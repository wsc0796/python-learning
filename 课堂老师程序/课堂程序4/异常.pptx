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8" r:id="rId2"/>
    <p:sldId id="259" r:id="rId3"/>
    <p:sldId id="260" r:id="rId4"/>
    <p:sldId id="28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2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1.8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688.33105"/>
      <inkml:brushProperty name="anchorY" value="-6415.42578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2.4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534.99805"/>
      <inkml:brushProperty name="anchorY" value="-7262.09277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4.1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81.66406"/>
      <inkml:brushProperty name="anchorY" value="-8108.75928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962C1-6715-4CD4-84C2-F9891FBC2ECE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52CA9-D7F8-46E5-9B0D-0961AE9C5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0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24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22A6-B55F-6849-ED50-F500BD81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E0E96B-4D79-ED7E-E3E8-3468C437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407DF-1697-DF22-8AA8-34A279BB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BD7A-A41A-102D-EC66-E6D5BD60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6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EE97E6-1C46-6A0B-5FCF-F5F2CD01BAD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42632E4-4245-36A0-B479-B0F18F173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053F9917-6B8A-869B-8D55-C5A3BB4053F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D9A0A92-2FB0-CD64-12F3-CAA88FD90713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7B6B6E5E-5D29-AE52-546F-AAF6C3C3D6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A726F18E-C165-C12B-9333-F794926B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</p:grpSp>
      <p:sp>
        <p:nvSpPr>
          <p:cNvPr id="174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231467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42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FEEDB1C-D0DB-1A71-7095-75B413B59B9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955D04B-D624-5A61-7D3D-03F4B12E00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77346BF-A56A-8647-3972-D809B2E3E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1601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64446099-1A1C-414F-B961-3D3EDB2DB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0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AEA6D6E-1A8C-AD40-5A98-B659807A0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EB7C6F-50F6-C7CF-6E30-20DF73C58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716F7DF-2EC6-7DB9-38F6-48B97A086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7C1EE-E640-4EF9-8E2F-D6F7AA76F4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77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9BD732-D42D-25ED-255D-7A28F8F11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F5E5AA5-3C02-AB16-56ED-A6F4B41E8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B04EABE-7332-B71F-AEAE-FB28BE5AF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E191-0C6D-477F-817F-0054B1C73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BA3352-B69E-FF50-CD0D-ABC593F1A8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23DFB4-3937-4D0D-CD38-F24915DCC1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66EF83-49A5-63E9-646D-DAB6AE9DC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A3F3A-0818-41EF-8ADF-BE29F611E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1841174-4A35-A602-0FDA-4B8BC8323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F3F0298-B321-9871-EDC0-D691D7799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09642DA-2557-EFCD-545C-E07CEA155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A0BF3-3687-471C-A529-E3DA89A1C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9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EB23449-3FD6-3A97-217C-121A94750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A46CD9-E7D2-213B-AA57-9CD647698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C0383B6-9993-858D-8BAD-D8675EE1C3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80629-C604-4445-A984-795889DBA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45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B5C19DB-379C-038D-FBCE-6E3ED76C5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AABD4F5-280D-CC9C-437F-9A54FD943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18214FD-F8EE-3380-5E51-92E53B003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7857F-90AC-4030-B015-35703B8925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55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C845CD2-3329-D1E5-9D23-E073D51D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BC958D-6A0D-6AA9-226E-0E9F69141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880FE00-96B5-C75F-97A0-21F89EEE8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AF542-181C-487A-A948-D37B82CFC7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81AD54-E249-BEF2-638A-58370832F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B2E828-3484-BFEF-A1EA-868BE083F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7D1B646-E840-CAEF-96B6-9A5394839E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BC037-36B6-4321-918E-574323A07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7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BD2EDF-5D68-3040-1445-EFD1E7892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8C139F-2EEF-7E9D-D6EE-FB6AA3275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6BA2739-AD1C-B8E5-E4FE-36F759D3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8BAD-0C4E-49F2-AAC3-7225817960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96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0800" y="762001"/>
            <a:ext cx="2641600" cy="5324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16000" y="762001"/>
            <a:ext cx="7721600" cy="5324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9E5E0E-9126-2FF2-CECA-CB44C54A3F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3D1349-3262-6A85-C5DB-7D08ABD43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FA0FDD-697D-7D9F-FCB0-019562BFE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4EE4-00B6-4248-AD13-EA79996C29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E7995D9-93B0-E0A3-9528-DB339DEA73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016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DA3A26DF-9AF0-0857-232D-BADDF923E1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2E5D666E-8E32-2CEE-8349-E7061154C9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08ACB68A-533B-2464-30F3-75E136EFE45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5D528CD6-B23A-CFFE-173F-F5D142D9B0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16CA3545-7E97-6213-34AE-58EC3D20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1005095D-AA64-36C8-66B9-1F5493CF8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CAE1D110-920B-96A0-85F7-19E4FAA94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762000"/>
            <a:ext cx="105664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5602ACE-F6BF-EDDA-5E44-D2D8989AE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1" y="2362201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4BD20D3D-B1BB-D132-FC37-19A7AA2804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1" y="6248401"/>
            <a:ext cx="284056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00343E65-1318-F95A-1C83-BB6C633B5F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1"/>
            <a:ext cx="386291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75E77340-A13D-56CB-3376-63B9D9F9E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4" y="6242050"/>
            <a:ext cx="783167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99B610-AFFA-40FE-A1D6-9131B5D89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44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91D02631-6111-E067-4569-5F5880E0C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第九</a:t>
            </a:r>
            <a:r>
              <a:rPr lang="zh-CN" altLang="en-US"/>
              <a:t>章 异常</a:t>
            </a:r>
            <a:endParaRPr lang="zh-CN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1E114-8A9A-0273-4B81-E835407F6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学习目标</a:t>
            </a:r>
            <a:r>
              <a:rPr lang="en-US" altLang="zh-CN" dirty="0"/>
              <a:t>:</a:t>
            </a:r>
          </a:p>
          <a:p>
            <a:pPr eaLnBrk="1" hangingPunct="1"/>
            <a:r>
              <a:rPr lang="zh-CN" altLang="en-US" sz="2400" dirty="0"/>
              <a:t>了解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异常的概念和类型，熟悉常见的几种异常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了解捕获异常的几种方式，熟悉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raise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语句和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assert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语句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掌握程序中传递异常的方法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掌握自定义异常与使用自定义异常的方法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084" y="783771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9.1 </a:t>
            </a:r>
            <a:r>
              <a:rPr lang="zh-CN" altLang="en-US" dirty="0"/>
              <a:t>异常概述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0"/>
            <a:ext cx="10791370" cy="4495799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9.1.1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认识异常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异常的概念：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程序在运行过程当中，不可避免的会出现一些错误，比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如：使用了没有赋值过的变量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使用了不存在的索引，除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0 ...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这些错误在程序中，我们称其为异常。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程序运行过程中，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一旦出现异常将会导致程序立即终止，异常以后的代码全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部都不会执行！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处理异常的目的：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程序运行时出现异常时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可以编写代码来对异常进行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处理，使程序正常运行。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异常概述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1"/>
            <a:ext cx="10813142" cy="436517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9.1.2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异常的类型（异常的类型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BaseException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是所有异常类的基类，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Exception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是所有内置的，非</a:t>
            </a:r>
            <a:endParaRPr lang="en-US" altLang="zh-CN" sz="2400" b="1" dirty="0">
              <a:solidFill>
                <a:srgbClr val="008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系统退出的异常的基类，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Exception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类内置了众多常见异常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000" dirty="0"/>
              <a:t>常见的几种异常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1.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NameError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是程序中使用了未定义的变量时引发的异常</a:t>
            </a:r>
            <a:b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print(test)</a:t>
            </a:r>
          </a:p>
          <a:p>
            <a:pPr>
              <a:buNone/>
            </a:pPr>
            <a:r>
              <a:rPr lang="en-US" altLang="zh-CN" sz="2000" dirty="0"/>
              <a:t>2. </a:t>
            </a: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是程序越界访问时引发的异常</a:t>
            </a:r>
            <a:b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new_list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=[]  #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定义一个空列表</a:t>
            </a:r>
            <a:b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new_list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0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/>
              <a:t> 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36FE432-A7A9-82B6-2028-4E075ECA3465}"/>
              </a:ext>
            </a:extLst>
          </p:cNvPr>
          <p:cNvGrpSpPr/>
          <p:nvPr/>
        </p:nvGrpSpPr>
        <p:grpSpPr>
          <a:xfrm>
            <a:off x="6858086" y="4974806"/>
            <a:ext cx="10800" cy="10800"/>
            <a:chOff x="6858086" y="4974806"/>
            <a:chExt cx="10800" cy="10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14:cNvPr>
                <p14:cNvContentPartPr/>
                <p14:nvPr/>
              </p14:nvContentPartPr>
              <p14:xfrm>
                <a:off x="6868526" y="4985246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886" y="49676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67F3-07C3-021C-F22D-5920BB1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异常概述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31D62-2F47-EC4B-1551-01820BCAC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516" y="2371725"/>
            <a:ext cx="10738455" cy="4290332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 3.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AttributeError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是对象访问不存在的属性引发异常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b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黑色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b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car.brand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五菱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b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lang="en-US" altLang="zh-CN" sz="24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lang="en-US" altLang="zh-CN" sz="24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car.brand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print(car.name)  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访问不存在的属性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50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异常概述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318659"/>
            <a:ext cx="10831286" cy="4397828"/>
          </a:xfrm>
        </p:spPr>
        <p:txBody>
          <a:bodyPr/>
          <a:lstStyle/>
          <a:p>
            <a:pPr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4.FileNotFoundError: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未找的指定文件或目录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file=open("text.txt")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5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异常：数字相除，除数为零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number=10.6/0.0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en-US" altLang="zh-CN" sz="24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ValueError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：非数值异常</a:t>
            </a:r>
            <a:b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num=int(input("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请输入整数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"))</a:t>
            </a:r>
            <a:b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请输入整数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10a</a:t>
            </a: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509E-9812-131A-F3C3-48A0A6B4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65C1D19B-3939-7EF0-6ED2-E80EB1BBE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2829" y="849086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6666"/>
                </a:solidFill>
                <a:latin typeface="Arial"/>
                <a:ea typeface="宋体"/>
              </a:rPr>
              <a:t>9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.2 </a:t>
            </a:r>
            <a:r>
              <a:rPr lang="zh-CN" altLang="en-US" dirty="0">
                <a:solidFill>
                  <a:srgbClr val="006666"/>
                </a:solidFill>
                <a:latin typeface="Arial"/>
                <a:ea typeface="宋体"/>
              </a:rPr>
              <a:t>异常捕获语句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CDAA23E-4E75-C969-5519-D2395FE87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253343"/>
            <a:ext cx="10257367" cy="4811486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9.2.1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使用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try-except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语句捕获异常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语法格式如下：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try: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可能出错的代码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except [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异常类型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[as error]]:</a:t>
            </a: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 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捕获异常后的处理代码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539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C9D6F-E200-73AA-DD14-B2C9F2FE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A5CC69-64F6-7EC3-EB2F-413D77F2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97828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说明：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1.try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子句之后为可能出错的代码，也就是需要被监控的代码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2.except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子句中可以指定异常类型，该子句只对与指定异常类型相匹配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的异常进行处理。若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子句中不指定异常类型，就处理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语句捕获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的所有异常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3.except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子句中的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as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关键字用于将捕获到的异常对象赋给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error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4. except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后的代码是处理异常执行的代码。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12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C50E2-DD3D-8D25-5DD9-43BCF34E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28673-4A49-48D7-4E70-147C99E1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373086"/>
            <a:ext cx="11074399" cy="4484914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try-except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语句的执行过程为：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优先执行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try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子句中可能出错的代码。若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子句没有出现异常，忽略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句继续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向下执行；如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子句出现异常，忽略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子句的剩余代码，转而执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子句；若程序出现的异常类型与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子句中指定的异常类型匹配，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error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记录异常信息，执行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子句的代码，否则按系统默认的方式终止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程序。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09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7D643-062B-0A4B-1FFB-BB9FDF89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F09A30-9EE5-D93A-D198-20A29AFE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3251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捕获单个异常（使用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try-except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捕获单个异常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请输入被除数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结果为：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error: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error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获取异常对象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出错了，原因：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,error)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程序执行结束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12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15E82-4ABC-BAED-7E73-1C703ECC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22B3C-36E8-B005-F667-D22C7677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258" y="2362201"/>
            <a:ext cx="10257367" cy="44957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捕获多个异常（使用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try-except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捕获多个异常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捕获多个异常需要在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except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之后以元组的形式指定多个异常类型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请输入被除数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结果为：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ValueError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error: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error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获取异常对象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出错了，原因：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,error)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程序执行结束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endParaRPr lang="zh-CN" altLang="en-US" sz="2400" dirty="0"/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258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59160-4AAF-233B-AD1F-09885D77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FBC37-40DD-4E26-1C0A-0BEF37EB2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24028" cy="44195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全部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异常（捕获全部异常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如果要捕获全部异常，那么可以将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except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之后的异常类型设置为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Exception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或省略不写，注意若省略不写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子句中无法获取异常的具体信息。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请输入被除数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结果为：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Exception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error: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error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获取异常对象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出错了，原因：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,error)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程序执行结束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0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1FE7-A23A-3192-9DF7-FD04628E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89B4E-A412-CE04-F22A-DB50D719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78456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9.2.2 </a:t>
            </a:r>
            <a:r>
              <a:rPr lang="zh-CN" altLang="en-US" sz="2400" dirty="0"/>
              <a:t>异常结构中的</a:t>
            </a:r>
            <a:r>
              <a:rPr lang="en-US" altLang="zh-CN" sz="2400" dirty="0"/>
              <a:t>else</a:t>
            </a:r>
            <a:r>
              <a:rPr lang="zh-CN" altLang="en-US" sz="2400" dirty="0"/>
              <a:t>子句（异常结构中的</a:t>
            </a:r>
            <a:r>
              <a:rPr lang="en-US" altLang="zh-CN" sz="2400" dirty="0"/>
              <a:t>else</a:t>
            </a:r>
            <a:r>
              <a:rPr lang="zh-CN" altLang="en-US" sz="2400" dirty="0"/>
              <a:t>子句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else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子句可以和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try-except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语句合成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try-except-else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结构，若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监控的代码没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有异常，程序会执行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else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子句后的代码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语法结构如下：</a:t>
            </a:r>
            <a:endParaRPr lang="zh-CN" altLang="en-US" sz="20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可能出错的代码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 [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异常类型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[as error]]: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捕获异常后的处理代码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indent="0">
              <a:buNone/>
            </a:pPr>
            <a:r>
              <a:rPr lang="en-US" altLang="zh-CN" sz="2400" dirty="0"/>
              <a:t>else :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没有异常的处理代码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79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F080-DA34-0F8F-DB0A-F143AABE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74FA1-E355-D18F-4BFA-7654D774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86942"/>
          </a:xfrm>
        </p:spPr>
        <p:txBody>
          <a:bodyPr/>
          <a:lstStyle/>
          <a:p>
            <a:pPr>
              <a:buNone/>
            </a:pP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请输入被除数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res=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error: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error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获取异常对象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出错了，原因：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,error)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(res)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没有异常的处理代码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程序执行结束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2255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4800B-BB38-7C3F-64C1-93F004AF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B1CA2-94A2-9654-90D0-FBF4F980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21999" cy="4321628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9.2.3 </a:t>
            </a:r>
            <a:r>
              <a:rPr lang="zh-CN" altLang="en-US" sz="2400" dirty="0"/>
              <a:t>异常结构中的</a:t>
            </a:r>
            <a:r>
              <a:rPr lang="en-US" altLang="zh-CN" sz="2400" dirty="0"/>
              <a:t>finally</a:t>
            </a:r>
            <a:r>
              <a:rPr lang="zh-CN" altLang="en-US" sz="2400" dirty="0"/>
              <a:t>子句（异常结构中的</a:t>
            </a:r>
            <a:r>
              <a:rPr lang="en-US" altLang="zh-CN" sz="2400" dirty="0"/>
              <a:t>finally</a:t>
            </a:r>
            <a:r>
              <a:rPr lang="zh-CN" altLang="en-US" sz="2400" dirty="0"/>
              <a:t>子句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finally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子句可以和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try-except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一起使用。无论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子句代码是否产生异常，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finally</a:t>
            </a:r>
          </a:p>
          <a:p>
            <a:pPr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子句都会被执行，多用于资源的清理工作。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/>
              <a:t>语法格式如下：</a:t>
            </a:r>
            <a:endParaRPr lang="en-US" altLang="zh-CN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try: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可能出错的代码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except [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异常类型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[as error]]: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捕获异常后的处理代码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finally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一定要执行的代码</a:t>
            </a:r>
            <a:endParaRPr lang="zh-CN" altLang="en-US" sz="2400" dirty="0"/>
          </a:p>
          <a:p>
            <a:pPr marL="514350" indent="-514350">
              <a:buAutoNum type="arabicParenBoth"/>
            </a:pPr>
            <a:endParaRPr lang="zh-CN" altLang="en-US" sz="2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438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312EE-109C-7A89-9ED6-AB87011B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异常捕获语句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B6491-A34C-CB8A-168B-B98989FF7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file=None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file=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'./file123.txt'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mode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r'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 err="1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encoding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'utf_8'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Exception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error: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(error)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finally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无论是否产生异常都会执行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file!=None 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文件已经关闭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757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59B87-A099-EE94-5319-05EBD3FF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 </a:t>
            </a:r>
            <a:r>
              <a:rPr lang="zh-CN" altLang="en-US" dirty="0"/>
              <a:t>抛出异常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29E83-D526-0D23-CF6F-ED392930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769599" cy="433251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Python</a:t>
            </a:r>
            <a:r>
              <a:rPr lang="zh-CN" altLang="en-US" sz="2400" dirty="0"/>
              <a:t>程序中的异常不仅可以自动触发还可以使用</a:t>
            </a:r>
            <a:r>
              <a:rPr lang="en-US" altLang="zh-CN" sz="2400" dirty="0"/>
              <a:t>raise </a:t>
            </a:r>
            <a:r>
              <a:rPr lang="zh-CN" altLang="en-US" sz="2400" dirty="0"/>
              <a:t>语句和</a:t>
            </a:r>
            <a:r>
              <a:rPr lang="en-US" altLang="zh-CN" sz="2400" dirty="0"/>
              <a:t>assert</a:t>
            </a:r>
            <a:r>
              <a:rPr lang="zh-CN" altLang="en-US" sz="2400" dirty="0"/>
              <a:t>语句自动抛出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9.3.1 </a:t>
            </a:r>
            <a:r>
              <a:rPr lang="zh-CN" altLang="en-US" sz="2400" dirty="0"/>
              <a:t>使用 </a:t>
            </a:r>
            <a:r>
              <a:rPr lang="en-US" altLang="zh-CN" sz="2400" dirty="0"/>
              <a:t>raise </a:t>
            </a:r>
            <a:r>
              <a:rPr lang="zh-CN" altLang="en-US" sz="2400" dirty="0"/>
              <a:t>语句抛出异常</a:t>
            </a:r>
            <a:r>
              <a:rPr lang="en-US" altLang="zh-CN" sz="2400" dirty="0"/>
              <a:t>(</a:t>
            </a:r>
            <a:r>
              <a:rPr lang="zh-CN" altLang="en-US" sz="2400" dirty="0"/>
              <a:t>使用</a:t>
            </a:r>
            <a:r>
              <a:rPr lang="en-US" altLang="zh-CN" sz="2400" dirty="0"/>
              <a:t>raise</a:t>
            </a:r>
            <a:r>
              <a:rPr lang="zh-CN" altLang="en-US" sz="2400" dirty="0"/>
              <a:t>语句抛出异常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使用异常类抛出异常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使用这种格式抛出异常会隐式创建创建一个该异常类型的对象。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语法  </a:t>
            </a:r>
            <a:r>
              <a:rPr lang="en-US" altLang="zh-CN" sz="2400" dirty="0"/>
              <a:t>raise </a:t>
            </a:r>
            <a:r>
              <a:rPr lang="zh-CN" altLang="en-US" sz="2400" dirty="0"/>
              <a:t>异常类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raise </a:t>
            </a:r>
            <a:r>
              <a:rPr lang="en-US" altLang="zh-CN" sz="2000" dirty="0" err="1"/>
              <a:t>IndexError</a:t>
            </a:r>
            <a:br>
              <a:rPr lang="en-US" altLang="zh-CN" sz="18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i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‘’’</a:t>
            </a:r>
            <a:endParaRPr lang="en-US" altLang="zh-CN" sz="1800" b="1" dirty="0">
              <a:solidFill>
                <a:srgbClr val="008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Traceback (most recent call last):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File "D:/pythonProjects/Dirstjsd/ppyp/</a:t>
            </a:r>
            <a:r>
              <a:rPr lang="zh-CN" altLang="en-US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en-US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语句抛出异常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", line 4, in &lt;module&gt;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raise </a:t>
            </a: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endParaRPr lang="en-US" altLang="zh-CN" sz="1800" b="1" dirty="0">
              <a:solidFill>
                <a:srgbClr val="008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</a:t>
            </a:r>
            <a:endParaRPr lang="en-US" altLang="zh-CN" sz="1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6447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8CB04-E567-A4CA-F4A2-86FC7278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抛出异常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724D7-4C6D-5EEC-A74D-2C8851256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658" y="2351315"/>
            <a:ext cx="10921999" cy="4386942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使用异常类对象</a:t>
            </a:r>
            <a:r>
              <a:rPr lang="en-US" altLang="zh-CN" sz="2400" dirty="0"/>
              <a:t>(</a:t>
            </a:r>
            <a:r>
              <a:rPr lang="zh-CN" altLang="en-US" sz="2400" dirty="0"/>
              <a:t>使用无参的构造方法）引发异常</a:t>
            </a:r>
          </a:p>
          <a:p>
            <a:pPr>
              <a:buNone/>
            </a:pPr>
            <a:r>
              <a:rPr lang="en-US" altLang="zh-CN" sz="2000" dirty="0"/>
              <a:t>raise </a:t>
            </a:r>
            <a:r>
              <a:rPr lang="en-US" altLang="zh-CN" sz="2000" dirty="0" err="1"/>
              <a:t>IndexError</a:t>
            </a:r>
            <a:r>
              <a:rPr lang="en-US" altLang="zh-CN" sz="2000" dirty="0"/>
              <a:t>()</a:t>
            </a:r>
            <a:br>
              <a:rPr lang="en-US" altLang="zh-CN" sz="28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Traceback (most recent call last):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File "D:/pythonProjects/Dirstjsd/ppyp/</a:t>
            </a:r>
            <a:r>
              <a:rPr lang="zh-CN" altLang="en-US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en-US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语句抛出异常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", line 12, in &lt;module&gt;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raise </a:t>
            </a: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b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endParaRPr lang="en-US" altLang="zh-CN" sz="1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/>
              <a:t>raise </a:t>
            </a:r>
            <a:r>
              <a:rPr lang="en-US" altLang="zh-CN" sz="2000" dirty="0" err="1"/>
              <a:t>IndexError</a:t>
            </a:r>
            <a:r>
              <a:rPr lang="en-US" altLang="zh-CN" sz="2000" dirty="0"/>
              <a:t>('</a:t>
            </a:r>
            <a:r>
              <a:rPr lang="zh-CN" altLang="en-US" sz="2000" dirty="0"/>
              <a:t>索引下标超出范围</a:t>
            </a:r>
            <a:r>
              <a:rPr lang="en-US" altLang="zh-CN" sz="2000" dirty="0"/>
              <a:t>')</a:t>
            </a:r>
            <a:br>
              <a:rPr lang="en-US" altLang="zh-CN" sz="28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raceback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(most recent call last):</a:t>
            </a:r>
            <a:b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File "D:/pythonProjects/Dirstjsd/ppyp/</a:t>
            </a:r>
            <a:r>
              <a:rPr lang="zh-CN" altLang="en-US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en-US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语句抛出异常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18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line 20, in &lt;module&gt;</a:t>
            </a:r>
            <a:b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raise </a:t>
            </a:r>
            <a:r>
              <a:rPr lang="en-US" altLang="zh-CN" sz="18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('</a:t>
            </a:r>
            <a:r>
              <a:rPr lang="zh-CN" altLang="en-US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索引下标超出范围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')</a:t>
            </a:r>
            <a:b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索引下标超出范围</a:t>
            </a:r>
            <a:br>
              <a:rPr lang="zh-CN" altLang="en-US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endParaRPr lang="zh-CN" altLang="en-US" sz="18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890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135BD-BF74-1680-6943-C5FF2E65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抛出异常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D2C25E-6C07-F89A-8EBC-C8CBFAD15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54656" cy="4332513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3 </a:t>
            </a:r>
            <a:r>
              <a:rPr lang="zh-CN" altLang="en-US" sz="2400" dirty="0"/>
              <a:t>重新引发（抛出）异常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使用任何不带任何参数的</a:t>
            </a:r>
            <a:r>
              <a:rPr lang="en-US" altLang="zh-CN" sz="2400" dirty="0"/>
              <a:t>"raise"</a:t>
            </a:r>
            <a:r>
              <a:rPr lang="zh-CN" altLang="en-US" sz="2400" dirty="0"/>
              <a:t>语句引发刚刚发生过的异常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 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索引下标超出范围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eccept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子句后的代码又使用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语句抛出刚刚发生的异常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Traceback (most recent call last):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File "D:/pythonProjects/Dirstjsd/ppyp/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语句抛出异常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", line 30, in &lt;module&gt;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raise  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('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索引下标超出范围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')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索引下标超出范围</a:t>
            </a:r>
            <a:b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1461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E79E3-1687-1083-EF5E-22112C4F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抛出异常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3BB7C-93ED-8483-4FD4-F1BE7A817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45799" cy="438694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9.3.2</a:t>
            </a:r>
            <a:r>
              <a:rPr lang="zh-CN" altLang="en-US" sz="2400" dirty="0"/>
              <a:t>使用</a:t>
            </a:r>
            <a:r>
              <a:rPr lang="en-US" altLang="zh-CN" sz="2400" dirty="0"/>
              <a:t>assert</a:t>
            </a:r>
            <a:r>
              <a:rPr lang="zh-CN" altLang="en-US" sz="2400" dirty="0"/>
              <a:t>语句抛出异常</a:t>
            </a:r>
            <a:r>
              <a:rPr lang="en-US" altLang="zh-CN" sz="2400" dirty="0"/>
              <a:t>(</a:t>
            </a:r>
            <a:r>
              <a:rPr lang="zh-CN" altLang="en-US" sz="2400" dirty="0"/>
              <a:t>使用</a:t>
            </a:r>
            <a:r>
              <a:rPr lang="en-US" altLang="zh-CN" sz="2400" dirty="0"/>
              <a:t>assert</a:t>
            </a:r>
            <a:r>
              <a:rPr lang="zh-CN" altLang="en-US" sz="2400" dirty="0"/>
              <a:t>语句抛出异常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en-US" altLang="zh-CN" sz="2400" dirty="0"/>
              <a:t>)</a:t>
            </a:r>
          </a:p>
          <a:p>
            <a:pPr>
              <a:buNone/>
            </a:pPr>
            <a:r>
              <a:rPr lang="en-US" altLang="zh-CN" sz="2400" dirty="0"/>
              <a:t>   </a:t>
            </a:r>
          </a:p>
          <a:p>
            <a:pPr>
              <a:buNone/>
            </a:pPr>
            <a:r>
              <a:rPr lang="en-US" altLang="zh-CN" sz="2400" dirty="0"/>
              <a:t>assert </a:t>
            </a:r>
            <a:r>
              <a:rPr lang="zh-CN" altLang="en-US" sz="2400" dirty="0"/>
              <a:t>后跟着一个表达式和一个字符串（异常信息）</a:t>
            </a:r>
            <a:r>
              <a:rPr lang="en-US" altLang="zh-CN" sz="2400" dirty="0"/>
              <a:t> assert </a:t>
            </a:r>
            <a:r>
              <a:rPr lang="zh-CN" altLang="en-US" sz="2400" dirty="0"/>
              <a:t>表达式</a:t>
            </a:r>
            <a:r>
              <a:rPr lang="en-US" altLang="zh-CN" sz="2400" dirty="0"/>
              <a:t>[,</a:t>
            </a:r>
            <a:r>
              <a:rPr lang="zh-CN" altLang="en-US" sz="2400" dirty="0"/>
              <a:t>异常信息</a:t>
            </a:r>
            <a:r>
              <a:rPr lang="en-US" altLang="zh-CN" sz="2400" dirty="0"/>
              <a:t>]</a:t>
            </a:r>
          </a:p>
          <a:p>
            <a:pPr>
              <a:buNone/>
            </a:pPr>
            <a:r>
              <a:rPr lang="zh-CN" altLang="en-US" sz="2400" dirty="0"/>
              <a:t>当表达式为</a:t>
            </a:r>
            <a:r>
              <a:rPr lang="en-US" altLang="zh-CN" sz="2400" dirty="0"/>
              <a:t>False</a:t>
            </a:r>
            <a:r>
              <a:rPr lang="zh-CN" altLang="en-US" sz="2400" dirty="0"/>
              <a:t>时 使用异常信息调用有参的构造方法创建</a:t>
            </a:r>
            <a:r>
              <a:rPr lang="en-US" altLang="zh-CN" sz="2400" dirty="0" err="1"/>
              <a:t>AssertionError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异常对象</a:t>
            </a:r>
            <a:r>
              <a:rPr lang="en-US" altLang="zh-CN" sz="2400" dirty="0" err="1"/>
              <a:t>AssertionError</a:t>
            </a:r>
            <a:r>
              <a:rPr lang="zh-CN" altLang="en-US" sz="2400" dirty="0"/>
              <a:t>（异常信息）并抛出。</a:t>
            </a:r>
            <a:endParaRPr lang="en-US" altLang="zh-CN" sz="24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9729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88BB4-6D76-9FF0-4402-67189561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抛出异常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9ED77-3AAD-A782-14E6-5E3EB1C1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76428" cy="440871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num_one=int(input("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请输入被除数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"))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num_two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=int(input("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请输入除数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"))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assert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num_two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!=0 ,'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除数不能为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0'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print("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结果为：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",num_one/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num_two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结果为：</a:t>
            </a:r>
            <a:endParaRPr lang="en-US" altLang="zh-CN" sz="20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请输入被除数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请输入除数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Traceback (most recent call last):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File "D:/pythonProjects/Dirstjsd/ppyp/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assert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语句抛出异常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", line 8, in &lt;module&gt;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assert  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num_two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!=0 ,'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除数不能为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0'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AssertionError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除数不能为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1934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ED3B5-10A1-1A39-D2AD-9846E58D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抛出异常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0BEE1-4D68-6260-A163-83ED720C4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1074399" cy="44195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9.3.3  </a:t>
            </a:r>
            <a:r>
              <a:rPr lang="zh-CN" altLang="en-US" sz="2400" dirty="0"/>
              <a:t>异常的传递（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异常的传递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如果程序中异常没有处理，默认情况下会将该异常传递到上一级（调用它的方法），如果上一级仍然没有处理异常，那么就会继续向上传递，直到异常被处理或程序崩溃。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5149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8EA50-F027-33AB-4E91-022902C9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 </a:t>
            </a:r>
            <a:r>
              <a:rPr lang="zh-CN" altLang="en-US" dirty="0"/>
              <a:t>自定义异常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8AD77-A834-63FD-F86E-4EF5B2A06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00228" cy="44957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9.4.1 </a:t>
            </a:r>
            <a:r>
              <a:rPr lang="zh-CN" altLang="en-US" sz="2400" dirty="0"/>
              <a:t>自定义异常（自定义异常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自定义异常类需要继承</a:t>
            </a:r>
            <a:r>
              <a:rPr lang="en-US" altLang="zh-CN" sz="2400" dirty="0"/>
              <a:t>Exception</a:t>
            </a:r>
            <a:r>
              <a:rPr lang="zh-CN" altLang="en-US" sz="2400" dirty="0"/>
              <a:t>类或其子类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5813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05CDC-67E8-FFDA-1E51-92B18532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9.4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自定义异常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9F4D3-CAA0-9B56-17EB-FC927BC7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220686"/>
            <a:ext cx="10911113" cy="4517571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ShortInputError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Exception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自定义异常类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'''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,length,atleast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.length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=length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.atleast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atleast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text=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请输入密码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(text)&lt;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raise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ShortInputError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(text),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ShortInputError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ShortInputError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输入的长度是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%d,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长度至少应该是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%d"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%(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e.length,e.atleast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密码设置成功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程序执行结束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830181"/>
      </p:ext>
    </p:extLst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2073</Words>
  <Application>Microsoft Office PowerPoint</Application>
  <PresentationFormat>宽屏</PresentationFormat>
  <Paragraphs>167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宋体</vt:lpstr>
      <vt:lpstr>Arial</vt:lpstr>
      <vt:lpstr>Times New Roman</vt:lpstr>
      <vt:lpstr>Wingdings</vt:lpstr>
      <vt:lpstr>Capsules</vt:lpstr>
      <vt:lpstr>第九章 异常</vt:lpstr>
      <vt:lpstr>9.1 异常概述</vt:lpstr>
      <vt:lpstr>9.1 异常概述</vt:lpstr>
      <vt:lpstr>9.1 异常概述</vt:lpstr>
      <vt:lpstr>9.1 异常概述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9.2 异常捕获语句</vt:lpstr>
      <vt:lpstr>9.3 抛出异常</vt:lpstr>
      <vt:lpstr>9.3 抛出异常</vt:lpstr>
      <vt:lpstr>9.3 抛出异常</vt:lpstr>
      <vt:lpstr>9.3 抛出异常</vt:lpstr>
      <vt:lpstr>9.3 抛出异常</vt:lpstr>
      <vt:lpstr>9.3 抛出异常</vt:lpstr>
      <vt:lpstr>9.4  自定义异常</vt:lpstr>
      <vt:lpstr>9.4  自定义异常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su</dc:creator>
  <cp:lastModifiedBy>bo su</cp:lastModifiedBy>
  <cp:revision>63</cp:revision>
  <dcterms:created xsi:type="dcterms:W3CDTF">2026-02-19T02:03:12Z</dcterms:created>
  <dcterms:modified xsi:type="dcterms:W3CDTF">2026-02-22T05:32:15Z</dcterms:modified>
</cp:coreProperties>
</file>