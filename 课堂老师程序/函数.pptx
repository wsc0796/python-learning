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8" r:id="rId2"/>
    <p:sldId id="259" r:id="rId3"/>
    <p:sldId id="260" r:id="rId4"/>
    <p:sldId id="261" r:id="rId5"/>
    <p:sldId id="262" r:id="rId6"/>
    <p:sldId id="263" r:id="rId7"/>
    <p:sldId id="285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1.81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688.33105"/>
      <inkml:brushProperty name="anchorY" value="-6415.42578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2.40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534.99805"/>
      <inkml:brushProperty name="anchorY" value="-7262.09277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9T13:11:14.17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81.66406"/>
      <inkml:brushProperty name="anchorY" value="-8108.75928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962C1-6715-4CD4-84C2-F9891FBC2ECE}" type="datetimeFigureOut">
              <a:rPr lang="zh-CN" altLang="en-US" smtClean="0"/>
              <a:t>2026/4/18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52CA9-D7F8-46E5-9B0D-0961AE9C5E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09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24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22A6-B55F-6849-ED50-F500BD81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E0E96B-4D79-ED7E-E3E8-3468C437D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3407DF-1697-DF22-8AA8-34A279BB4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BD7A-A41A-102D-EC66-E6D5BD60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11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C52CA9-D7F8-46E5-9B0D-0961AE9C5E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06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EE97E6-1C46-6A0B-5FCF-F5F2CD01BAD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823200" cy="6858000"/>
            <a:chOff x="0" y="0"/>
            <a:chExt cx="3696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42632E4-4245-36A0-B479-B0F18F173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053F9917-6B8A-869B-8D55-C5A3BB4053F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kumimoji="1" lang="zh-CN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D9A0A92-2FB0-CD64-12F3-CAA88FD90713}"/>
              </a:ext>
            </a:extLst>
          </p:cNvPr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7B6B6E5E-5D29-AE52-546F-AAF6C3C3D6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A726F18E-C165-C12B-9333-F794926B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/>
            </a:p>
          </p:txBody>
        </p:sp>
      </p:grpSp>
      <p:sp>
        <p:nvSpPr>
          <p:cNvPr id="174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231467" y="2927350"/>
            <a:ext cx="5350933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742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990600"/>
            <a:ext cx="109728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0FEEDB1C-D0DB-1A71-7095-75B413B59B9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955D04B-D624-5A61-7D3D-03F4B12E00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77346BF-A56A-8647-3972-D809B2E3E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1601" y="6248400"/>
            <a:ext cx="783167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64446099-1A1C-414F-B961-3D3EDB2DBC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00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AEA6D6E-1A8C-AD40-5A98-B659807A08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EB7C6F-50F6-C7CF-6E30-20DF73C58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716F7DF-2EC6-7DB9-38F6-48B97A086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7C1EE-E640-4EF9-8E2F-D6F7AA76F4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77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9BD732-D42D-25ED-255D-7A28F8F11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F5E5AA5-3C02-AB16-56ED-A6F4B41E8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B04EABE-7332-B71F-AEAE-FB28BE5AFF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E191-0C6D-477F-817F-0054B1C73B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3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BA3352-B69E-FF50-CD0D-ABC593F1A8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23DFB4-3937-4D0D-CD38-F24915DCC1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66EF83-49A5-63E9-646D-DAB6AE9DC5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A3F3A-0818-41EF-8ADF-BE29F611E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1841174-4A35-A602-0FDA-4B8BC8323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F3F0298-B321-9871-EDC0-D691D7799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09642DA-2557-EFCD-545C-E07CEA155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A0BF3-3687-471C-A529-E3DA89A1C5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9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EB23449-3FD6-3A97-217C-121A94750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A46CD9-E7D2-213B-AA57-9CD6476988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C0383B6-9993-858D-8BAD-D8675EE1C3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80629-C604-4445-A984-795889DBA8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45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B5C19DB-379C-038D-FBCE-6E3ED76C5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AABD4F5-280D-CC9C-437F-9A54FD943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18214FD-F8EE-3380-5E51-92E53B0037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B7857F-90AC-4030-B015-35703B8925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155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C845CD2-3329-D1E5-9D23-E073D51D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9BC958D-6A0D-6AA9-226E-0E9F69141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880FE00-96B5-C75F-97A0-21F89EEE8F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AF542-181C-487A-A948-D37B82CFC7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45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81AD54-E249-BEF2-638A-58370832F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EB2E828-3484-BFEF-A1EA-868BE083F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7D1B646-E840-CAEF-96B6-9A5394839E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BC037-36B6-4321-918E-574323A07A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557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3BD2EDF-5D68-3040-1445-EFD1E78926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48C139F-2EEF-7E9D-D6EE-FB6AA3275D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6BA2739-AD1C-B8E5-E4FE-36F759D34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8BAD-0C4E-49F2-AAC3-7225817960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796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0800" y="762001"/>
            <a:ext cx="2641600" cy="5324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16000" y="762001"/>
            <a:ext cx="7721600" cy="5324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9E5E0E-9126-2FF2-CECA-CB44C54A3F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F3D1349-3262-6A85-C5DB-7D08ABD43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FA0FDD-697D-7D9F-FCB0-019562BFE4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54EE4-00B6-4248-AD13-EA79996C29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E7995D9-93B0-E0A3-9528-DB339DEA73C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0160000" cy="6858000"/>
            <a:chOff x="0" y="0"/>
            <a:chExt cx="480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DA3A26DF-9AF0-0857-232D-BADDF923E1D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>
                <a:extLst>
                  <a:ext uri="{FF2B5EF4-FFF2-40B4-BE49-F238E27FC236}">
                    <a16:creationId xmlns:a16="http://schemas.microsoft.com/office/drawing/2014/main" id="{2E5D666E-8E32-2CEE-8349-E7061154C94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7" name="Freeform 5">
                <a:extLst>
                  <a:ext uri="{FF2B5EF4-FFF2-40B4-BE49-F238E27FC236}">
                    <a16:creationId xmlns:a16="http://schemas.microsoft.com/office/drawing/2014/main" id="{08ACB68A-533B-2464-30F3-75E136EFE45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1033" name="Group 6">
              <a:extLst>
                <a:ext uri="{FF2B5EF4-FFF2-40B4-BE49-F238E27FC236}">
                  <a16:creationId xmlns:a16="http://schemas.microsoft.com/office/drawing/2014/main" id="{5D528CD6-B23A-CFFE-173F-F5D142D9B0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>
                <a:extLst>
                  <a:ext uri="{FF2B5EF4-FFF2-40B4-BE49-F238E27FC236}">
                    <a16:creationId xmlns:a16="http://schemas.microsoft.com/office/drawing/2014/main" id="{16CA3545-7E97-6213-34AE-58EC3D20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  <p:sp>
            <p:nvSpPr>
              <p:cNvPr id="1035" name="AutoShape 8">
                <a:extLst>
                  <a:ext uri="{FF2B5EF4-FFF2-40B4-BE49-F238E27FC236}">
                    <a16:creationId xmlns:a16="http://schemas.microsoft.com/office/drawing/2014/main" id="{1005095D-AA64-36C8-66B9-1F5493CF8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z="2800"/>
              </a:p>
            </p:txBody>
          </p:sp>
        </p:grpSp>
      </p:grpSp>
      <p:sp>
        <p:nvSpPr>
          <p:cNvPr id="1027" name="AutoShape 9">
            <a:extLst>
              <a:ext uri="{FF2B5EF4-FFF2-40B4-BE49-F238E27FC236}">
                <a16:creationId xmlns:a16="http://schemas.microsoft.com/office/drawing/2014/main" id="{CAE1D110-920B-96A0-85F7-19E4FAA94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762000"/>
            <a:ext cx="105664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B5602ACE-F6BF-EDDA-5E44-D2D8989AE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1" y="2362201"/>
            <a:ext cx="10257367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4BD20D3D-B1BB-D132-FC37-19A7AA2804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51201" y="6248401"/>
            <a:ext cx="284056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00343E65-1318-F95A-1C83-BB6C633B5F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721600" y="6248401"/>
            <a:ext cx="3862917" cy="474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75E77340-A13D-56CB-3376-63B9D9F9EC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4" y="6242050"/>
            <a:ext cx="783167" cy="488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99B610-AFFA-40FE-A1D6-9131B5D89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44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91D02631-6111-E067-4569-5F5880E0C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第六章 函数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1E114-8A9A-0273-4B81-E835407F6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学习目标</a:t>
            </a:r>
            <a:r>
              <a:rPr lang="en-US" altLang="zh-CN" dirty="0"/>
              <a:t>:</a:t>
            </a:r>
          </a:p>
          <a:p>
            <a:pPr eaLnBrk="1" hangingPunct="1"/>
            <a:r>
              <a:rPr lang="zh-CN" altLang="en-US" sz="2400" dirty="0"/>
              <a:t>了解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函数的概念及使用优势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掌握函数的定义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和调用方法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理解函数参数的几种传递方式和函数的返回值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eaLnBrk="1" hangingPunct="1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理解变量的作用域，掌握局部变量和全局变量的用法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掌握递归函数和匿名函数的使用方法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084" y="783771"/>
            <a:ext cx="10566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6.1 </a:t>
            </a:r>
            <a:r>
              <a:rPr lang="zh-CN" altLang="en-US" dirty="0"/>
              <a:t>函数的概述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0"/>
            <a:ext cx="10791370" cy="4495799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函数简介（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function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函数可以用来保存一些可执行的代码，并且可以在需要时，对这些语句进行多次的调用。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简单的说 函数是组织好的，实现特点功能的代码段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362201"/>
            <a:ext cx="10813142" cy="436517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6.2.1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定义函数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def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函数名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([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参数列表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]):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      [“””</a:t>
            </a: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  文档字符串</a:t>
            </a: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’’’]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      函数体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      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[return 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语句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语法说明：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de</a:t>
            </a:r>
            <a:r>
              <a:rPr lang="en-US" altLang="zh-CN" sz="2400" dirty="0">
                <a:solidFill>
                  <a:srgbClr val="003366"/>
                </a:solidFill>
                <a:latin typeface="Arial"/>
                <a:ea typeface="宋体"/>
              </a:rPr>
              <a:t>f 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关键字：函数的开始标志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effectLst/>
                <a:latin typeface="Arial"/>
                <a:ea typeface="宋体"/>
              </a:rPr>
              <a:t>函数名：函数的唯一标识</a:t>
            </a:r>
            <a:endParaRPr lang="en-US" altLang="zh-CN" sz="24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参数列表：负责接收传入函数中的数据，可以包含一个或多个参数也可以为空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冒号：函数体的开始标志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36FE432-A7A9-82B6-2028-4E075ECA3465}"/>
              </a:ext>
            </a:extLst>
          </p:cNvPr>
          <p:cNvGrpSpPr/>
          <p:nvPr/>
        </p:nvGrpSpPr>
        <p:grpSpPr>
          <a:xfrm>
            <a:off x="6858086" y="4974806"/>
            <a:ext cx="10800" cy="10800"/>
            <a:chOff x="6858086" y="4974806"/>
            <a:chExt cx="10800" cy="10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86C014D-3B2E-6B63-9B32-44D1DDD49B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14:cNvPr>
                <p14:cNvContentPartPr/>
                <p14:nvPr/>
              </p14:nvContentPartPr>
              <p14:xfrm>
                <a:off x="6858086" y="497480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0D58829-A716-7923-E1A7-07FE1F2E9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40086" y="495716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14:cNvPr>
                <p14:cNvContentPartPr/>
                <p14:nvPr/>
              </p14:nvContentPartPr>
              <p14:xfrm>
                <a:off x="6868526" y="4985246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007C2BA6-1284-CA50-D895-FA66D2E9D6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50886" y="496760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0D7B163C-2485-E32E-DA38-9A05ED5B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.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py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）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C83C0B2-871A-7387-24C9-4053D801C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2340430"/>
            <a:ext cx="10892971" cy="439782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文档字符串：由一对三引号包裹的，用于说明函数功能的字符串，可以省略。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函数体：实现函数功能的具体代码。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return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语句：返回函数处理结果给调用方，是函数结束标志，若函数没有返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回值，可以省略。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509E-9812-131A-F3C3-48A0A6B49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65C1D19B-3939-7EF0-6ED2-E80EB1BBE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2829" y="849086"/>
            <a:ext cx="10566400" cy="1143000"/>
          </a:xfrm>
        </p:spPr>
        <p:txBody>
          <a:bodyPr/>
          <a:lstStyle/>
          <a:p>
            <a:pPr eaLnBrk="1" hangingPunct="1"/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</a:t>
            </a:r>
            <a:endParaRPr lang="zh-CN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CDAA23E-4E75-C969-5519-D2395FE871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601" y="2253343"/>
            <a:ext cx="10257367" cy="4811486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6.2.2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调用函数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 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函数名（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[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参数列表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]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）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说明：函数在定义完成后不会立即执行，指定被程序调用才会执行。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539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C9D6F-E200-73AA-DD14-B2C9F2FE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A5CC69-64F6-7EC3-EB2F-413D77F2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97828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add():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定义一个无参函数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result=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b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(result)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add_modify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定义一个有参函数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result=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a+b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(result)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add()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调用一个无参函数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33</a:t>
            </a:r>
            <a:b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add_modify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调用一个有参函数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125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6A0A4-9F3A-9C09-5C38-CDC48CF0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</a:t>
            </a:r>
            <a:r>
              <a:rPr lang="zh-CN" altLang="en-US" dirty="0"/>
              <a:t>函数的定义和调用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780E3-281A-8CCF-05DE-BF874ACB5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26719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函数的内存表示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4CDEF1-F184-345F-968B-A60D83E2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87" y="2959996"/>
            <a:ext cx="10345594" cy="341995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8844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C50E2-DD3D-8D25-5DD9-43BCF34E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函数的定义和调用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28673-4A49-48D7-4E70-147C99E1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177143"/>
            <a:ext cx="10257367" cy="4680857"/>
          </a:xfrm>
        </p:spPr>
        <p:txBody>
          <a:bodyPr/>
          <a:lstStyle/>
          <a:p>
            <a:pPr>
              <a:buNone/>
            </a:pPr>
            <a:r>
              <a:rPr lang="en-US" altLang="zh-CN" sz="20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 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6.2.3 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函数的嵌套定义和调用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(</a:t>
            </a: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函数的嵌套定义和调用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.</a:t>
            </a:r>
            <a:r>
              <a:rPr lang="en-US" altLang="zh-CN" sz="2400" b="1" dirty="0" err="1">
                <a:solidFill>
                  <a:srgbClr val="006666"/>
                </a:solidFill>
                <a:latin typeface="Arial"/>
                <a:ea typeface="宋体"/>
                <a:cs typeface="+mj-cs"/>
              </a:rPr>
              <a:t>py</a:t>
            </a:r>
            <a:r>
              <a:rPr lang="en-US" altLang="zh-CN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)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函数在定义时 可以在内部嵌套定义另一个函数，函数外部无法直接调用内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层函数，只能在外层函数中调用内层函数。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def </a:t>
            </a:r>
            <a:r>
              <a:rPr lang="en-US" altLang="zh-CN" sz="2000" dirty="0" err="1"/>
              <a:t>add_modify</a:t>
            </a:r>
            <a:r>
              <a:rPr lang="en-US" altLang="zh-CN" sz="2000" dirty="0"/>
              <a:t>(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): # </a:t>
            </a:r>
            <a:r>
              <a:rPr lang="zh-CN" altLang="en-US" sz="2000" dirty="0"/>
              <a:t>定义外层函数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000" dirty="0"/>
              <a:t>    </a:t>
            </a:r>
            <a:r>
              <a:rPr lang="en-US" altLang="zh-CN" sz="2000" dirty="0"/>
              <a:t>result=</a:t>
            </a:r>
            <a:r>
              <a:rPr lang="en-US" altLang="zh-CN" sz="2000" dirty="0" err="1"/>
              <a:t>a+b</a:t>
            </a:r>
            <a:endParaRPr lang="en-US" altLang="zh-CN" sz="2000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    print(result)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    def test():      # </a:t>
            </a:r>
            <a:r>
              <a:rPr lang="zh-CN" altLang="en-US" sz="2000" dirty="0"/>
              <a:t>定义内层函数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000" dirty="0"/>
              <a:t>        </a:t>
            </a:r>
            <a:r>
              <a:rPr lang="en-US" altLang="zh-CN" sz="2000" dirty="0"/>
              <a:t>print("</a:t>
            </a:r>
            <a:r>
              <a:rPr lang="zh-CN" altLang="en-US" sz="2000" dirty="0"/>
              <a:t>我是内层函数</a:t>
            </a:r>
            <a:r>
              <a:rPr lang="en-US" altLang="zh-CN" sz="2000" dirty="0"/>
              <a:t>")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    test() #</a:t>
            </a:r>
            <a:r>
              <a:rPr lang="zh-CN" altLang="en-US" sz="2000" dirty="0"/>
              <a:t>外层函数中调用内层函数</a:t>
            </a:r>
          </a:p>
          <a:p>
            <a:pPr marL="0" indent="0" eaLnBrk="1" hangingPunct="1">
              <a:lnSpc>
                <a:spcPct val="90000"/>
              </a:lnSpc>
              <a:buClr>
                <a:srgbClr val="003366"/>
              </a:buClr>
              <a:buNone/>
              <a:defRPr/>
            </a:pPr>
            <a:r>
              <a:rPr lang="en-US" altLang="zh-CN" sz="2000" dirty="0" err="1"/>
              <a:t>add_modify</a:t>
            </a:r>
            <a:r>
              <a:rPr lang="en-US" altLang="zh-CN" sz="2000" dirty="0"/>
              <a:t>(10,20)  #  </a:t>
            </a:r>
            <a:r>
              <a:rPr lang="zh-CN" altLang="en-US" sz="2000" dirty="0"/>
              <a:t>函数外部只能调用外层函数，通过</a:t>
            </a:r>
            <a:r>
              <a:rPr lang="zh-CN" altLang="en-US" sz="2000" b="1" dirty="0">
                <a:solidFill>
                  <a:srgbClr val="006666"/>
                </a:solidFill>
              </a:rPr>
              <a:t>外层函数中调用内层函数。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000" dirty="0"/>
              <a:t>结果</a:t>
            </a:r>
            <a:endParaRPr lang="en-US" altLang="zh-CN" sz="2000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en-US" altLang="zh-CN" sz="2000" dirty="0"/>
              <a:t>30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r>
              <a:rPr lang="zh-CN" altLang="en-US" sz="2000" dirty="0"/>
              <a:t>我是内层函数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None/>
              <a:tabLst/>
              <a:defRPr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209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7D643-062B-0A4B-1FFB-BB9FDF89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F09A30-9EE5-D93A-D198-20A29AFEE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32513"/>
          </a:xfrm>
        </p:spPr>
        <p:txBody>
          <a:bodyPr/>
          <a:lstStyle/>
          <a:p>
            <a:pPr marL="0" indent="0">
              <a:buNone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函数参数的传递是指将实际参数传递给形式参数的过程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函数参数的传递可以分为：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位置参数的传递</a:t>
            </a:r>
            <a:endParaRPr lang="en-US" altLang="zh-CN" sz="2400" b="1" dirty="0">
              <a:solidFill>
                <a:srgbClr val="006666"/>
              </a:solidFill>
              <a:effectLst/>
              <a:latin typeface="Arial"/>
              <a:ea typeface="宋体"/>
              <a:cs typeface="+mj-cs"/>
            </a:endParaRPr>
          </a:p>
          <a:p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关键字参数的传递</a:t>
            </a:r>
            <a:endParaRPr lang="en-US" altLang="zh-CN" sz="2400" b="1" dirty="0">
              <a:solidFill>
                <a:srgbClr val="006666"/>
              </a:solidFill>
              <a:latin typeface="Arial"/>
              <a:ea typeface="宋体"/>
              <a:cs typeface="+mj-cs"/>
            </a:endParaRPr>
          </a:p>
          <a:p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默认参数的传递</a:t>
            </a:r>
            <a:endParaRPr lang="en-US" altLang="zh-CN" sz="2400" b="1" dirty="0">
              <a:solidFill>
                <a:srgbClr val="006666"/>
              </a:solidFill>
              <a:effectLst/>
              <a:latin typeface="Arial"/>
              <a:ea typeface="宋体"/>
              <a:cs typeface="+mj-cs"/>
            </a:endParaRPr>
          </a:p>
          <a:p>
            <a:r>
              <a:rPr lang="zh-CN" altLang="en-US" sz="2400" b="1" dirty="0">
                <a:solidFill>
                  <a:srgbClr val="006666"/>
                </a:solidFill>
                <a:effectLst/>
                <a:latin typeface="Arial"/>
                <a:ea typeface="宋体"/>
                <a:cs typeface="+mj-cs"/>
              </a:rPr>
              <a:t>参数的打包与解包</a:t>
            </a:r>
            <a:endParaRPr lang="en-US" altLang="zh-CN" sz="2400" b="1" dirty="0">
              <a:solidFill>
                <a:srgbClr val="006666"/>
              </a:solidFill>
              <a:effectLst/>
              <a:latin typeface="Arial"/>
              <a:ea typeface="宋体"/>
              <a:cs typeface="+mj-cs"/>
            </a:endParaRPr>
          </a:p>
          <a:p>
            <a:r>
              <a:rPr lang="zh-CN" altLang="en-US" sz="2400" b="1" dirty="0">
                <a:solidFill>
                  <a:srgbClr val="006666"/>
                </a:solidFill>
                <a:latin typeface="Arial"/>
                <a:ea typeface="宋体"/>
                <a:cs typeface="+mj-cs"/>
              </a:rPr>
              <a:t>混合传递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3512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15E82-4ABC-BAED-7E73-1C703ECC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22B3C-36E8-B005-F667-D22C7677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6.</a:t>
            </a:r>
            <a:r>
              <a:rPr lang="en-US" altLang="zh-CN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3.1 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位置参数的传递（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位置参数的传递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py</a:t>
            </a: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函数被调用时，会将实参按照相应的位置依次传递给形参</a:t>
            </a:r>
            <a:endParaRPr lang="en-US" altLang="zh-CN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get_max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定义函数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a&gt;b: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(a,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是较大的值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(b,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是较大的值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get_max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调用函数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是较大的值</a:t>
            </a:r>
          </a:p>
          <a:p>
            <a:pPr>
              <a:buNone/>
            </a:pP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1258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59160-4AAF-233B-AD1F-09885D77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FBC37-40DD-4E26-1C0A-0BEF37EB2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24028" cy="44195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6.3.2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关键字参数传递（关键字参数传递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1.py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关键字参数传递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2.py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关键字参数传递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就是将实参按照指定形参的名字传递给形参。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def connect(</a:t>
            </a:r>
            <a:r>
              <a:rPr lang="en-US" altLang="zh-CN" sz="2000" dirty="0" err="1"/>
              <a:t>ip,port</a:t>
            </a:r>
            <a:r>
              <a:rPr lang="en-US" altLang="zh-CN" sz="2000" dirty="0"/>
              <a:t>): #</a:t>
            </a:r>
            <a:r>
              <a:rPr lang="zh-CN" altLang="en-US" sz="2000" dirty="0"/>
              <a:t>定义函数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000" dirty="0"/>
              <a:t>    </a:t>
            </a:r>
            <a:r>
              <a:rPr lang="en-US" altLang="zh-CN" sz="2000" dirty="0"/>
              <a:t>print(f"</a:t>
            </a:r>
            <a:r>
              <a:rPr lang="zh-CN" altLang="en-US" sz="2000" dirty="0"/>
              <a:t>设备</a:t>
            </a:r>
            <a:r>
              <a:rPr lang="en-US" altLang="zh-CN" sz="2000" dirty="0"/>
              <a:t>{</a:t>
            </a:r>
            <a:r>
              <a:rPr lang="en-US" altLang="zh-CN" sz="2000" dirty="0" err="1"/>
              <a:t>ip</a:t>
            </a:r>
            <a:r>
              <a:rPr lang="en-US" altLang="zh-CN" sz="2000" dirty="0"/>
              <a:t>}</a:t>
            </a:r>
            <a:r>
              <a:rPr lang="zh-CN" altLang="en-US" sz="2000" dirty="0"/>
              <a:t>：</a:t>
            </a:r>
            <a:r>
              <a:rPr lang="en-US" altLang="zh-CN" sz="2000" dirty="0"/>
              <a:t>{port}</a:t>
            </a:r>
            <a:r>
              <a:rPr lang="zh-CN" altLang="en-US" sz="2000" dirty="0"/>
              <a:t>连接</a:t>
            </a:r>
            <a:r>
              <a:rPr lang="en-US" altLang="zh-CN" sz="2000" dirty="0"/>
              <a:t>")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connect(port="8080",ip="127.0.0.1")# </a:t>
            </a:r>
            <a:r>
              <a:rPr lang="zh-CN" altLang="en-US" sz="2000" dirty="0"/>
              <a:t>调用函数</a:t>
            </a:r>
            <a:endParaRPr lang="en-US" altLang="zh-CN" sz="2000" dirty="0"/>
          </a:p>
          <a:p>
            <a:pPr>
              <a:buNone/>
            </a:pP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结果：设备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127.0.0.1</a:t>
            </a: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8080</a:t>
            </a: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endParaRPr lang="en-US" altLang="zh-CN" sz="20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,/,c):# / </a:t>
            </a: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指明前面的参数</a:t>
            </a: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均为仅限位置参数 后面不要求</a:t>
            </a:r>
          </a:p>
          <a:p>
            <a:pPr>
              <a:buNone/>
            </a:pP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(10,20,30)</a:t>
            </a:r>
          </a:p>
          <a:p>
            <a:pPr>
              <a:buNone/>
            </a:pP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(10,20,c=30)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b="1" dirty="0" err="1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(a=10,b=20,c=30) #</a:t>
            </a:r>
            <a:r>
              <a:rPr lang="zh-CN" altLang="en-US" sz="2000" b="1" dirty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出错</a:t>
            </a:r>
            <a:endParaRPr lang="en-US" altLang="zh-CN" sz="2000" b="1" dirty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0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E5A71-258A-A328-3D44-AAE36F8A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33D5AA-0A0D-A964-E2B0-2D79FD24A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2362201"/>
            <a:ext cx="10896600" cy="43433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6.3.3 </a:t>
            </a:r>
            <a:r>
              <a:rPr lang="zh-CN" altLang="en-US" sz="2400" dirty="0"/>
              <a:t>默认参数传递（默认参数传递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默认参数传递：在</a:t>
            </a:r>
            <a:r>
              <a:rPr lang="zh-CN" altLang="en-US" sz="2400" dirty="0">
                <a:solidFill>
                  <a:srgbClr val="003366"/>
                </a:solidFill>
                <a:latin typeface="Arial"/>
                <a:ea typeface="宋体"/>
              </a:rPr>
              <a:t>定义函数 指定形参的默认值 在没有对应实参传递时，使用默认值。</a:t>
            </a:r>
            <a:endParaRPr lang="en-US" altLang="zh-CN" sz="2400" dirty="0">
              <a:solidFill>
                <a:srgbClr val="0033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connect(</a:t>
            </a:r>
            <a:r>
              <a:rPr lang="en-US" altLang="zh-CN" sz="2000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,port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8080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20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{port}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connect(</a:t>
            </a:r>
            <a:r>
              <a:rPr lang="en-US" altLang="zh-CN" sz="2000" dirty="0" err="1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“127.0.0.1”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调用函数 形参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port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使用默认值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connect(</a:t>
            </a:r>
            <a:r>
              <a:rPr lang="en-US" altLang="zh-CN" sz="2000" dirty="0" err="1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“127.0.0.1”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,port=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“3306”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调用函数 形参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port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使用实参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的值。</a:t>
            </a:r>
            <a:endParaRPr lang="en-US" altLang="zh-CN" sz="20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i="1" dirty="0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4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127.0.0.1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8080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</a:p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设备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127.0.0.1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3306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连接</a:t>
            </a: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861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01FE7-A23A-3192-9DF7-FD04628E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D89B4E-A412-CE04-F22A-DB50D719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49579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6.3.4 </a:t>
            </a:r>
            <a:r>
              <a:rPr lang="zh-CN" altLang="en-US" sz="2400" dirty="0"/>
              <a:t>参数的打包与解包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打包（参数的打包</a:t>
            </a:r>
            <a:r>
              <a:rPr lang="en-US" altLang="zh-CN" sz="2400" dirty="0"/>
              <a:t>1.py</a:t>
            </a:r>
            <a:r>
              <a:rPr lang="zh-CN" altLang="en-US" sz="2400" dirty="0"/>
              <a:t>，参数的打包</a:t>
            </a:r>
            <a:r>
              <a:rPr lang="en-US" altLang="zh-CN" sz="2400" dirty="0"/>
              <a:t>2.py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    如果函数在定义时无法确定需要接收多少个数据，可以在函数定义时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为形参添加“*”或“**”，</a:t>
            </a:r>
            <a:r>
              <a:rPr lang="en-US" altLang="zh-CN" sz="2400" dirty="0"/>
              <a:t> </a:t>
            </a:r>
            <a:r>
              <a:rPr lang="zh-CN" altLang="en-US" sz="2400" dirty="0"/>
              <a:t>如果形参前面加“*”它可以接收以元组的形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式打包的多个值，如果形参前面加“**”它可以接收以字典的形式打包的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多个值。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def test(*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):  # </a:t>
            </a:r>
            <a:r>
              <a:rPr lang="zh-CN" altLang="en-US" sz="2000" dirty="0"/>
              <a:t>定义函数 接收参数不确定 以元组方式接收</a:t>
            </a:r>
          </a:p>
          <a:p>
            <a:pPr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print(type(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)) # &lt;class 'tuple'&gt;</a:t>
            </a:r>
          </a:p>
          <a:p>
            <a:pPr>
              <a:buNone/>
            </a:pPr>
            <a:r>
              <a:rPr lang="en-US" altLang="zh-CN" sz="2000" dirty="0"/>
              <a:t>    print(</a:t>
            </a:r>
            <a:r>
              <a:rPr lang="en-US" altLang="zh-CN" sz="2000" dirty="0" err="1"/>
              <a:t>args</a:t>
            </a:r>
            <a:r>
              <a:rPr lang="en-US" altLang="zh-CN" sz="2000" dirty="0"/>
              <a:t>)#(11, 22, 33, 44, 55)</a:t>
            </a:r>
          </a:p>
          <a:p>
            <a:pPr>
              <a:buNone/>
            </a:pPr>
            <a:r>
              <a:rPr lang="en-US" altLang="zh-CN" sz="2000" dirty="0"/>
              <a:t>test(11,22,33,44,55) # </a:t>
            </a:r>
            <a:r>
              <a:rPr lang="zh-CN" altLang="en-US" sz="2000" dirty="0"/>
              <a:t>调用函数 位置参数传递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794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0F080-DA34-0F8F-DB0A-F143AABE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74FA1-E355-D18F-4BFA-7654D774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86942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</a:t>
            </a:r>
          </a:p>
          <a:p>
            <a:pPr>
              <a:buNone/>
            </a:pPr>
            <a:r>
              <a:rPr lang="en-US" altLang="zh-CN" sz="2400" dirty="0"/>
              <a:t>def test(**</a:t>
            </a:r>
            <a:r>
              <a:rPr lang="en-US" altLang="zh-CN" sz="2400" dirty="0" err="1"/>
              <a:t>kwargs</a:t>
            </a:r>
            <a:r>
              <a:rPr lang="en-US" altLang="zh-CN" sz="2400" dirty="0"/>
              <a:t>):  # </a:t>
            </a:r>
            <a:r>
              <a:rPr lang="zh-CN" altLang="en-US" sz="2400" dirty="0"/>
              <a:t>定义函数 接收参数不确定 以字典方式接收</a:t>
            </a:r>
          </a:p>
          <a:p>
            <a:pPr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print(type(</a:t>
            </a:r>
            <a:r>
              <a:rPr lang="en-US" altLang="zh-CN" sz="2400" dirty="0" err="1"/>
              <a:t>kwargs</a:t>
            </a:r>
            <a:r>
              <a:rPr lang="en-US" altLang="zh-CN" sz="2400" dirty="0"/>
              <a:t>)) # &lt;class '</a:t>
            </a:r>
            <a:r>
              <a:rPr lang="en-US" altLang="zh-CN" sz="2400" dirty="0" err="1"/>
              <a:t>dict</a:t>
            </a:r>
            <a:r>
              <a:rPr lang="en-US" altLang="zh-CN" sz="2400" dirty="0"/>
              <a:t>'&gt;</a:t>
            </a:r>
          </a:p>
          <a:p>
            <a:pPr>
              <a:buNone/>
            </a:pPr>
            <a:r>
              <a:rPr lang="en-US" altLang="zh-CN" sz="2400" dirty="0"/>
              <a:t>    print(</a:t>
            </a:r>
            <a:r>
              <a:rPr lang="en-US" altLang="zh-CN" sz="2400" dirty="0" err="1"/>
              <a:t>kwargs</a:t>
            </a:r>
            <a:r>
              <a:rPr lang="en-US" altLang="zh-CN" sz="2400" dirty="0"/>
              <a:t>)# {'a': 11, 'b': 22, 'c': 33, 'd': 44, 'e': 55}</a:t>
            </a:r>
          </a:p>
          <a:p>
            <a:pPr>
              <a:buNone/>
            </a:pPr>
            <a:r>
              <a:rPr lang="en-US" altLang="zh-CN" sz="2400" dirty="0"/>
              <a:t>test(a=11,b=22,c=33,d=44,e=55) # </a:t>
            </a:r>
            <a:r>
              <a:rPr lang="zh-CN" altLang="en-US" sz="2400" dirty="0"/>
              <a:t>调用函数 关键字参数传递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225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34562-D2A0-A386-C141-3A355734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CA9193-7FF2-52A6-6523-D9A2A2A7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362201"/>
            <a:ext cx="10849429" cy="4343399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dirty="0"/>
              <a:t> 2.</a:t>
            </a:r>
            <a:r>
              <a:rPr lang="zh-CN" altLang="en-US" sz="2400" dirty="0"/>
              <a:t>解包（参数的解包</a:t>
            </a:r>
            <a:r>
              <a:rPr lang="en-US" altLang="zh-CN" sz="2400" dirty="0"/>
              <a:t>1.py  </a:t>
            </a:r>
            <a:r>
              <a:rPr lang="zh-CN" altLang="en-US" sz="2400" dirty="0"/>
              <a:t>参数的解包</a:t>
            </a:r>
            <a:r>
              <a:rPr lang="en-US" altLang="zh-CN" sz="2400" dirty="0"/>
              <a:t>2.py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如果函数在调用时接收的实参是元组类型的数据，可以用“*”将元组拆分成多个值</a:t>
            </a:r>
            <a:r>
              <a:rPr lang="en-US" altLang="zh-CN" sz="2400" dirty="0"/>
              <a:t>,</a:t>
            </a:r>
            <a:r>
              <a:rPr lang="zh-CN" altLang="en-US" sz="2400" dirty="0"/>
              <a:t>按照位置参数传递给对应的形参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a,b,c,d,e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a,b,c,d,e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=(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33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44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55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定义一个元组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test(*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使用* 对</a:t>
            </a:r>
            <a:r>
              <a:rPr lang="en-US" altLang="zh-CN" sz="24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元组进行解包操作，并进行按照位置参数传递给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对应的形参。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11 22 33 44 55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en-US" altLang="zh-CN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lang="nn-NO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640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4800B-BB38-7C3F-64C1-93F004AF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B1CA2-94A2-9654-90D0-FBF4F9800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921999" cy="4321628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如果函数在调用时接收的实参是字典类型的数据，可以用“**”将字典拆分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成多个键值对</a:t>
            </a:r>
            <a:r>
              <a:rPr lang="en-US" altLang="zh-CN" sz="2400" dirty="0"/>
              <a:t>,</a:t>
            </a:r>
            <a:r>
              <a:rPr lang="zh-CN" altLang="en-US" sz="2400" dirty="0"/>
              <a:t>并将每个值按照关键字参数传递给与键名对应的形参。</a:t>
            </a:r>
            <a:br>
              <a:rPr lang="zh-CN" altLang="en-US" sz="2400" dirty="0"/>
            </a:br>
            <a:endParaRPr lang="en-US" altLang="zh-CN" sz="2400" dirty="0"/>
          </a:p>
          <a:p>
            <a:pPr>
              <a:buNone/>
            </a:pP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def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a,b,c,d,e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a,b,c,d,e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={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"a"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"b"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"c"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33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"d"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44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"e"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55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} 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定义一个字典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test(**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使用**对</a:t>
            </a:r>
            <a:r>
              <a:rPr lang="en-US" altLang="zh-CN" sz="2400" i="1" dirty="0" err="1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nums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元组进行解包操作，并进行按照关键字参数传递给对应的形参。</a:t>
            </a:r>
            <a:endParaRPr lang="en-US" altLang="zh-CN" sz="2400" i="1" dirty="0">
              <a:solidFill>
                <a:srgbClr val="80808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400" i="1" dirty="0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4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11 22 33 44 55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 marL="514350" indent="-514350">
              <a:buAutoNum type="arabicParenBoth"/>
            </a:pPr>
            <a:endParaRPr lang="zh-CN" altLang="en-US" sz="2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8438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FBF0D-D736-4B23-FFC7-54100889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6.3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函数参数的传递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86E63-0EBD-E180-DB4F-82759E89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26719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6.3.5 </a:t>
            </a:r>
            <a:r>
              <a:rPr lang="zh-CN" altLang="en-US" sz="2400" dirty="0"/>
              <a:t>混合传递（混合传递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如果函数的形参 进行混合参数传递必须遵循以下规则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带有默认值的参数必须位于普通参数之后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带有“*“标识的参数必须位于带有默认值参数之后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3.</a:t>
            </a:r>
            <a:r>
              <a:rPr lang="zh-CN" altLang="en-US" sz="2400" dirty="0"/>
              <a:t>带有“**“标识的参数必须位于带有“*”标识参数之后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33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,*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,**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ksargs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定义函数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a,b,c,args,ksargs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 2 33 () {}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 2 3 () {}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#1 2 3 (4,) {}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000" dirty="0">
                <a:solidFill>
                  <a:srgbClr val="660099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 2 3 (4,) {'e': 5}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13402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80DD8-2550-596B-75D2-5F9BEA27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6.4 </a:t>
            </a:r>
            <a:r>
              <a:rPr lang="zh-CN" altLang="en-US" dirty="0"/>
              <a:t>函数的返回值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4C264-49C9-4594-DB9D-EB713CD1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693399" cy="4310742"/>
          </a:xfrm>
        </p:spPr>
        <p:txBody>
          <a:bodyPr/>
          <a:lstStyle/>
          <a:p>
            <a:pPr>
              <a:buNone/>
            </a:pPr>
            <a:r>
              <a:rPr lang="zh-CN" altLang="en-US" sz="2400" dirty="0"/>
              <a:t>概念：函数中的</a:t>
            </a:r>
            <a:r>
              <a:rPr lang="en-US" altLang="zh-CN" sz="2400" dirty="0"/>
              <a:t>return</a:t>
            </a:r>
            <a:r>
              <a:rPr lang="zh-CN" altLang="en-US" sz="2400" dirty="0"/>
              <a:t>语句会在函数调用结束时将数据返回给程序，让程序回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到函数被调用的位置继续执行。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6.4.1 </a:t>
            </a:r>
            <a:r>
              <a:rPr lang="zh-CN" altLang="en-US" sz="2400" dirty="0"/>
              <a:t>函数的一个返回值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定义一个敏感词过滤函数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filter_sensitive_words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(words):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定义函数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山寨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words: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如果语句中含有山寨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new_words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words.replace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山寨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"*"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把山寨替换为“*”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new_words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返回替换后的字符串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result=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filter_sensitive_words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这个手机是山寨版的吧！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(result)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这个手机是*版的吧！</a:t>
            </a: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864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3C175-64FC-5497-27D1-36AAF12E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6.4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函数的返回值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7ED6F-415A-4069-49CA-A17173172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856685" cy="436517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dirty="0"/>
              <a:t>6.4.2 </a:t>
            </a:r>
            <a:r>
              <a:rPr lang="zh-CN" altLang="en-US" sz="2400" dirty="0"/>
              <a:t>函数的多个返回值</a:t>
            </a:r>
          </a:p>
          <a:p>
            <a:pPr>
              <a:buNone/>
            </a:pPr>
            <a:r>
              <a:rPr lang="en-US" altLang="zh-CN" sz="2400" dirty="0"/>
              <a:t> python</a:t>
            </a:r>
            <a:r>
              <a:rPr lang="zh-CN" altLang="en-US" sz="2400" dirty="0"/>
              <a:t>的</a:t>
            </a:r>
            <a:r>
              <a:rPr lang="en-US" altLang="zh-CN" sz="2400" dirty="0"/>
              <a:t>return</a:t>
            </a:r>
            <a:r>
              <a:rPr lang="zh-CN" altLang="en-US" sz="2400" dirty="0"/>
              <a:t>语句可以返回多个值 这些值将被保存到元组中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def move(</a:t>
            </a:r>
            <a:r>
              <a:rPr lang="en-US" altLang="zh-CN" sz="2000" dirty="0" err="1"/>
              <a:t>x,y,step</a:t>
            </a:r>
            <a:r>
              <a:rPr lang="en-US" altLang="zh-CN" sz="2000" dirty="0"/>
              <a:t>): #</a:t>
            </a:r>
            <a:r>
              <a:rPr lang="zh-CN" altLang="en-US" sz="2000" dirty="0"/>
              <a:t>定义函数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000" dirty="0"/>
              <a:t>    </a:t>
            </a:r>
            <a:r>
              <a:rPr lang="en-US" altLang="zh-CN" sz="2000" dirty="0" err="1"/>
              <a:t>nx</a:t>
            </a:r>
            <a:r>
              <a:rPr lang="en-US" altLang="zh-CN" sz="2000" dirty="0"/>
              <a:t>=</a:t>
            </a:r>
            <a:r>
              <a:rPr lang="en-US" altLang="zh-CN" sz="2000" dirty="0" err="1"/>
              <a:t>x+step</a:t>
            </a:r>
            <a:endParaRPr lang="en-US" altLang="zh-CN" sz="20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ny</a:t>
            </a:r>
            <a:r>
              <a:rPr lang="en-US" altLang="zh-CN" sz="2000" dirty="0"/>
              <a:t>=y-step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    return </a:t>
            </a:r>
            <a:r>
              <a:rPr lang="en-US" altLang="zh-CN" sz="2000" dirty="0" err="1"/>
              <a:t>nx,ny</a:t>
            </a:r>
            <a:r>
              <a:rPr lang="en-US" altLang="zh-CN" sz="2000" dirty="0"/>
              <a:t> # </a:t>
            </a:r>
            <a:r>
              <a:rPr lang="zh-CN" altLang="en-US" sz="2000" dirty="0"/>
              <a:t>使用</a:t>
            </a:r>
            <a:r>
              <a:rPr lang="en-US" altLang="zh-CN" sz="2000" dirty="0"/>
              <a:t>return</a:t>
            </a:r>
            <a:r>
              <a:rPr lang="zh-CN" altLang="en-US" sz="2000" dirty="0"/>
              <a:t>返回多个值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 err="1"/>
              <a:t>a,b</a:t>
            </a:r>
            <a:r>
              <a:rPr lang="en-US" altLang="zh-CN" sz="2000" dirty="0"/>
              <a:t>=move(100,100,60)# </a:t>
            </a:r>
            <a:r>
              <a:rPr lang="zh-CN" altLang="en-US" sz="2000" dirty="0"/>
              <a:t>把多个返回值依次传给变量</a:t>
            </a:r>
            <a:r>
              <a:rPr lang="en-US" altLang="zh-CN" sz="2000" dirty="0" err="1"/>
              <a:t>a,b</a:t>
            </a:r>
            <a:endParaRPr lang="en-US" altLang="zh-CN" sz="20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print(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)# 160 40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result=move(100,100,60)# </a:t>
            </a:r>
            <a:r>
              <a:rPr lang="zh-CN" altLang="en-US" sz="2000" dirty="0"/>
              <a:t>把多个返回值传给元组</a:t>
            </a:r>
            <a:r>
              <a:rPr lang="en-US" altLang="zh-CN" sz="2000" dirty="0"/>
              <a:t>result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print(type(result))# &lt;class 'tuple'&gt;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66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000" dirty="0"/>
              <a:t>print(result)# (160, 40)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9805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1F292-1FB7-D5EF-D2F0-0FA540F21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6666"/>
                </a:solidFill>
                <a:latin typeface="Arial"/>
                <a:ea typeface="宋体"/>
              </a:rPr>
              <a:t>6.5 </a:t>
            </a:r>
            <a:r>
              <a:rPr lang="zh-CN" altLang="en-US" dirty="0">
                <a:solidFill>
                  <a:srgbClr val="006666"/>
                </a:solidFill>
                <a:latin typeface="Arial"/>
                <a:ea typeface="宋体"/>
              </a:rPr>
              <a:t>变量的作用域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5476B-05F7-A4B8-08DF-E8CC15D82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253344"/>
            <a:ext cx="10860314" cy="438694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概念：变量的有效范围称为变量的作用域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6.5.1 </a:t>
            </a:r>
            <a:r>
              <a:rPr lang="zh-CN" altLang="en-US" sz="2400" dirty="0"/>
              <a:t>局部变量和全局变量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1.</a:t>
            </a:r>
            <a:r>
              <a:rPr lang="zh-CN" altLang="en-US" sz="2400" dirty="0"/>
              <a:t>局部变量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）局部变量指在函数内部定义的变量，它只能在函数内部被使用，函数执行结束后局部变量会被释放，无法进行访问。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def </a:t>
            </a:r>
            <a:r>
              <a:rPr lang="en-US" altLang="zh-CN" sz="2000" dirty="0" err="1"/>
              <a:t>test_one</a:t>
            </a:r>
            <a:r>
              <a:rPr lang="en-US" altLang="zh-CN" sz="2000" dirty="0"/>
              <a:t>():</a:t>
            </a:r>
          </a:p>
          <a:p>
            <a:pPr marL="0" indent="0">
              <a:buNone/>
            </a:pPr>
            <a:r>
              <a:rPr lang="en-US" altLang="zh-CN" sz="2000" dirty="0"/>
              <a:t>    number=10 # </a:t>
            </a:r>
            <a:r>
              <a:rPr lang="zh-CN" altLang="en-US" sz="2000" dirty="0"/>
              <a:t>定义局部变量</a:t>
            </a:r>
          </a:p>
          <a:p>
            <a:pPr marL="0" indent="0">
              <a:buNone/>
            </a:pPr>
            <a:r>
              <a:rPr lang="zh-CN" altLang="en-US" sz="2000" dirty="0"/>
              <a:t>    </a:t>
            </a:r>
            <a:r>
              <a:rPr lang="en-US" altLang="zh-CN" sz="2000" dirty="0"/>
              <a:t>print(number) #</a:t>
            </a:r>
            <a:r>
              <a:rPr lang="zh-CN" altLang="en-US" sz="2000" dirty="0"/>
              <a:t>函数内部访问局部变量</a:t>
            </a:r>
          </a:p>
          <a:p>
            <a:pPr marL="0" indent="0">
              <a:buNone/>
            </a:pPr>
            <a:r>
              <a:rPr lang="en-US" altLang="zh-CN" sz="2000" dirty="0" err="1"/>
              <a:t>test_one</a:t>
            </a:r>
            <a:r>
              <a:rPr lang="en-US" altLang="zh-CN" sz="2000" dirty="0"/>
              <a:t>()</a:t>
            </a:r>
          </a:p>
          <a:p>
            <a:pPr marL="0" indent="0">
              <a:buNone/>
            </a:pPr>
            <a:r>
              <a:rPr lang="en-US" altLang="zh-CN" sz="2000" dirty="0"/>
              <a:t> # print(number) #</a:t>
            </a:r>
            <a:r>
              <a:rPr lang="zh-CN" altLang="en-US" sz="2000" dirty="0"/>
              <a:t>函数外部不能访问局部变量</a:t>
            </a:r>
          </a:p>
        </p:txBody>
      </p:sp>
    </p:spTree>
    <p:extLst>
      <p:ext uri="{BB962C8B-B14F-4D97-AF65-F5344CB8AC3E}">
        <p14:creationId xmlns:p14="http://schemas.microsoft.com/office/powerpoint/2010/main" val="2261799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746DD-0836-4DD9-5988-28F6E5D55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变量的作用域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917450-B773-ED66-292A-BBE411D77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）不同函数内部可以包含同名的局部变量，它们相互独立互不影响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number=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定义局部变量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(number)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函数内部访问局部变量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test_two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number=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20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定义局部变量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(number) 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函数内部访问局部变量</a:t>
            </a:r>
            <a:br>
              <a:rPr lang="zh-CN" altLang="en-US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10</a:t>
            </a:r>
            <a:b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test_two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4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20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17271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D2835-15A0-6395-4ABB-5EDD7258F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变量的作用域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89762-C80B-CDDA-8250-CA5BE0580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0"/>
            <a:ext cx="10660742" cy="4354285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2.</a:t>
            </a:r>
            <a:r>
              <a:rPr lang="zh-CN" altLang="en-US" sz="2400" dirty="0"/>
              <a:t>全局变量（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全局变量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概念：在函数外定义的变量为全局变量，全局变量可以在程序任意位置被访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问，全局变量在函数内部只能被访问，而无法直接修改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定义全局变量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函数内部访问全局变量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,number)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函数内部访问全局变量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number+=1 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函数内部无法直接修改全局变量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zh-CN" altLang="en-US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函数外部访问全局变量</a:t>
            </a:r>
            <a:r>
              <a:rPr lang="en-US" altLang="zh-CN" sz="20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'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,number)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函数外部访问全局变量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函数内部访问全局变量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函数外部访问全局变量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826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3098F-1AEF-375D-74FE-56D36512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变量的作用域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DEEE6-681F-AD49-1E50-9721692D9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288970"/>
          </a:xfrm>
        </p:spPr>
        <p:txBody>
          <a:bodyPr/>
          <a:lstStyle/>
          <a:p>
            <a:pPr>
              <a:buNone/>
            </a:pPr>
            <a:r>
              <a:rPr lang="en-US" altLang="zh-CN" dirty="0"/>
              <a:t>6.5.2 </a:t>
            </a:r>
            <a:r>
              <a:rPr lang="en-US" altLang="zh-CN" sz="2400" dirty="0"/>
              <a:t>global</a:t>
            </a:r>
            <a:r>
              <a:rPr lang="zh-CN" altLang="en-US" sz="2400" dirty="0"/>
              <a:t>和</a:t>
            </a:r>
            <a:r>
              <a:rPr lang="en-US" altLang="zh-CN" sz="2400" dirty="0"/>
              <a:t>nonlocal</a:t>
            </a:r>
            <a:r>
              <a:rPr lang="zh-CN" altLang="en-US" sz="2400" dirty="0"/>
              <a:t>关键字</a:t>
            </a:r>
            <a:endParaRPr lang="en-US" altLang="zh-CN" i="1" dirty="0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/>
              <a:t>1. global</a:t>
            </a:r>
            <a:r>
              <a:rPr lang="zh-CN" altLang="en-US" sz="2400" dirty="0"/>
              <a:t>关键字（</a:t>
            </a:r>
            <a:r>
              <a:rPr lang="en-US" altLang="zh-CN" sz="2400" dirty="0"/>
              <a:t>global</a:t>
            </a:r>
            <a:r>
              <a:rPr lang="zh-CN" altLang="en-US" sz="2400" dirty="0"/>
              <a:t>关键字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在函数内部 可以使用</a:t>
            </a:r>
            <a:r>
              <a:rPr lang="en-US" altLang="zh-CN" sz="2400" dirty="0"/>
              <a:t>global</a:t>
            </a:r>
            <a:r>
              <a:rPr lang="zh-CN" altLang="en-US" sz="2400" dirty="0"/>
              <a:t>关键字将局部变量声明为全局变量，这样便可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以在函数内部修改全局变量。</a:t>
            </a:r>
            <a:br>
              <a:rPr lang="zh-CN" altLang="en-US" sz="28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定义全局变量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global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global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声明变量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为全局变量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number+=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(number)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函数内部访问全局变量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test_one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11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(number)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函数外部访问全局变量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8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187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A4D5D-4958-D540-F70B-AD60C6AD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6.5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变量的作用域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1B540E-416A-1A30-6040-465A62EC8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76056"/>
          </a:xfrm>
        </p:spPr>
        <p:txBody>
          <a:bodyPr/>
          <a:lstStyle/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 nonlocal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关键字（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nonlocal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关键字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py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nonlocal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关键字可以在局部作用域中修改嵌套作用域中声明的变量</a:t>
            </a:r>
            <a:endParaRPr lang="en-US" altLang="zh-CN" sz="24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number=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nonlocal number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number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b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test_in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(number)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test()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20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10548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36D50-6A28-0A8F-1593-0625E6D62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特殊形式的函数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D5059-126F-0DFA-C723-85A4AF81C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198915"/>
            <a:ext cx="10889342" cy="4495800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6.7.1</a:t>
            </a:r>
            <a:r>
              <a:rPr lang="zh-CN" altLang="en-US" sz="2400" dirty="0"/>
              <a:t> 递归函数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函数在定义时可以直接或间接地调用其他函数。若函数内部调用了自身，则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这个函数称为递归函数。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递归函数要满足两个基本条件：</a:t>
            </a:r>
            <a:endParaRPr lang="en-US" altLang="zh-CN" sz="2000" dirty="0">
              <a:solidFill>
                <a:srgbClr val="0033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3366"/>
                </a:solidFill>
                <a:effectLst/>
                <a:latin typeface="Arial"/>
                <a:ea typeface="宋体"/>
              </a:rPr>
              <a:t>1.</a:t>
            </a:r>
            <a:r>
              <a:rPr lang="zh-CN" altLang="en-US" sz="2000" dirty="0">
                <a:solidFill>
                  <a:srgbClr val="003366"/>
                </a:solidFill>
                <a:effectLst/>
                <a:latin typeface="Arial"/>
                <a:ea typeface="宋体"/>
              </a:rPr>
              <a:t>递归公式</a:t>
            </a:r>
            <a:endParaRPr lang="en-US" altLang="zh-CN" sz="2000" dirty="0">
              <a:solidFill>
                <a:srgbClr val="003366"/>
              </a:solidFill>
              <a:effectLst/>
              <a:latin typeface="Arial"/>
              <a:ea typeface="宋体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3366"/>
                </a:solidFill>
                <a:latin typeface="Arial"/>
                <a:ea typeface="宋体"/>
              </a:rPr>
              <a:t>2.</a:t>
            </a:r>
            <a:r>
              <a:rPr lang="zh-CN" altLang="en-US" sz="2000" dirty="0">
                <a:solidFill>
                  <a:srgbClr val="003366"/>
                </a:solidFill>
                <a:latin typeface="Arial"/>
                <a:ea typeface="宋体"/>
              </a:rPr>
              <a:t>边界条件</a:t>
            </a:r>
            <a:endParaRPr lang="en-US" altLang="zh-CN" sz="2000" dirty="0">
              <a:solidFill>
                <a:srgbClr val="003366"/>
              </a:solidFill>
              <a:latin typeface="Arial"/>
              <a:ea typeface="宋体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递归函数一般定义格式为：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函数名（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参数列表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if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边界条件 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return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else: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return 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递归公式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8352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A88C5-0646-1232-67ED-713D6F70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特殊形式的函数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28D1E-2551-876F-67D7-D408CA74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1" y="2362201"/>
            <a:ext cx="10257367" cy="4397828"/>
          </a:xfrm>
        </p:spPr>
        <p:txBody>
          <a:bodyPr/>
          <a:lstStyle/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n!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边界条件 当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n=1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时，所得的结果为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  <a:p>
            <a:pPr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递归公式 当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n&gt;1 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时，所得的结果为 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n*(n-1)!</a:t>
            </a:r>
            <a:b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(num):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num==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b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return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num*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(num-</a:t>
            </a:r>
            <a:r>
              <a:rPr lang="en-US" altLang="zh-CN" sz="24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num=</a:t>
            </a:r>
            <a:r>
              <a:rPr lang="en-US" altLang="zh-CN" sz="24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zh-CN" altLang="en-US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请输入一个整数：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result=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func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(num)</a:t>
            </a:r>
            <a:b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4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(f</a:t>
            </a:r>
            <a:r>
              <a:rPr lang="en-US" altLang="zh-CN" sz="2400" b="1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"{num}!=%</a:t>
            </a:r>
            <a:r>
              <a:rPr lang="en-US" altLang="zh-CN" sz="2400" b="1" dirty="0" err="1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d"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%result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45753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AE0B1-1BD6-3C2B-E862-B368E06A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特殊形式的函数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7CB0DC-8328-8C1F-1CB4-BEB26E5F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2362201"/>
            <a:ext cx="11081657" cy="434339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 6.7.2 </a:t>
            </a:r>
            <a:r>
              <a:rPr lang="zh-CN" altLang="en-US" sz="2400" dirty="0"/>
              <a:t>匿名函数（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匿名函数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匿名函数是一类无需定义标识符的函数</a:t>
            </a:r>
            <a:r>
              <a:rPr lang="en-US" altLang="zh-CN" sz="2400" dirty="0"/>
              <a:t>,Python </a:t>
            </a:r>
            <a:r>
              <a:rPr lang="zh-CN" altLang="en-US" sz="2400" dirty="0"/>
              <a:t>中使用</a:t>
            </a:r>
            <a:r>
              <a:rPr lang="en-US" altLang="zh-CN" sz="2400" dirty="0"/>
              <a:t>lambda</a:t>
            </a:r>
            <a:r>
              <a:rPr lang="zh-CN" altLang="en-US" sz="2400" dirty="0"/>
              <a:t>关键字定义匿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名函数</a:t>
            </a:r>
            <a:r>
              <a:rPr lang="en-US" altLang="zh-CN" sz="2400" dirty="0"/>
              <a:t>,</a:t>
            </a:r>
            <a:r>
              <a:rPr lang="zh-CN" altLang="en-US" sz="2400" dirty="0"/>
              <a:t>定义好的匿名函数不能直接使用，最好使用一个变量保存函数地址 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以便调用</a:t>
            </a:r>
            <a:br>
              <a:rPr lang="zh-CN" altLang="en-US" sz="2400" dirty="0"/>
            </a:br>
            <a:r>
              <a:rPr lang="zh-CN" altLang="en-US" sz="2400" dirty="0"/>
              <a:t>语法：</a:t>
            </a:r>
            <a:r>
              <a:rPr lang="en-US" altLang="zh-CN" sz="2400" dirty="0"/>
              <a:t>lambda </a:t>
            </a:r>
            <a:r>
              <a:rPr lang="zh-CN" altLang="en-US" sz="2400" dirty="0"/>
              <a:t>参数列表 </a:t>
            </a:r>
            <a:r>
              <a:rPr lang="en-US" altLang="zh-CN" sz="2400" dirty="0"/>
              <a:t>: </a:t>
            </a:r>
            <a:r>
              <a:rPr lang="zh-CN" altLang="en-US" sz="2400" dirty="0"/>
              <a:t>返回值</a:t>
            </a:r>
            <a:r>
              <a:rPr lang="en-US" altLang="zh-CN" sz="2400" dirty="0"/>
              <a:t>(</a:t>
            </a:r>
            <a:r>
              <a:rPr lang="zh-CN" altLang="en-US" sz="2400" dirty="0"/>
              <a:t>表达式）</a:t>
            </a:r>
          </a:p>
          <a:p>
            <a:pPr>
              <a:buNone/>
            </a:pP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temp=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lambda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x: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pow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(x,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定义匿名函数 并把函数对象的地址交给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temp</a:t>
            </a:r>
            <a: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变量保存</a:t>
            </a:r>
            <a:br>
              <a:rPr lang="zh-CN" altLang="en-US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type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(temp))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&lt;class 'function'&gt;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(temp(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 100</a:t>
            </a: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b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def 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temp(x):</a:t>
            </a:r>
            <a:b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pow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(x,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</a:p>
          <a:p>
            <a:pPr>
              <a:buNone/>
            </a:pPr>
            <a:r>
              <a:rPr lang="en-US" altLang="zh-CN" sz="2000" b="1" dirty="0"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(temp(</a:t>
            </a:r>
            <a:r>
              <a:rPr lang="en-US" altLang="zh-CN" sz="20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)) </a:t>
            </a:r>
            <a:r>
              <a:rPr lang="en-US" altLang="zh-CN" sz="2000" i="1" dirty="0">
                <a:solidFill>
                  <a:srgbClr val="808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#100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424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F1494-7536-33CC-8EA6-77D11D008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6.7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特殊形式的函数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B8FE0F-2966-2E44-E8AA-68B18DBB4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1" y="2371725"/>
            <a:ext cx="10413396" cy="4322989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6.7.3 </a:t>
            </a:r>
            <a:r>
              <a:rPr lang="zh-CN" altLang="en-US" sz="2400" dirty="0"/>
              <a:t>装饰器（装饰器</a:t>
            </a:r>
            <a:r>
              <a:rPr lang="en-US" altLang="zh-CN" sz="2400" dirty="0"/>
              <a:t>.</a:t>
            </a:r>
            <a:r>
              <a:rPr lang="en-US" altLang="zh-CN" sz="2400" dirty="0" err="1"/>
              <a:t>py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作用：</a:t>
            </a:r>
            <a:r>
              <a:rPr lang="zh-CN" altLang="en-US" sz="2400" dirty="0"/>
              <a:t>希望在不修改原函数的情况下，来对函数进行扩展</a:t>
            </a:r>
          </a:p>
          <a:p>
            <a:pPr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327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63800-795B-B243-F650-CAD88779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6.8 </a:t>
            </a:r>
            <a:r>
              <a:rPr lang="zh-CN" altLang="en-US" dirty="0"/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24D36-96AE-0ED6-190A-53391EFA9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/>
              <a:t>     本章主要讲解了函数的相关知识，包括函数概述、函数的定义和调用、函数参数的传递、函数的返回值、变量作用域、特殊形式的函数。通过本章的学习，能深刻地体会到函数的便捷之处，熟练地在实际开发中应用函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330480"/>
      </p:ext>
    </p:extLst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2694</Words>
  <Application>Microsoft Office PowerPoint</Application>
  <PresentationFormat>宽屏</PresentationFormat>
  <Paragraphs>238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宋体</vt:lpstr>
      <vt:lpstr>Arial</vt:lpstr>
      <vt:lpstr>Times New Roman</vt:lpstr>
      <vt:lpstr>Wingdings</vt:lpstr>
      <vt:lpstr>Capsules</vt:lpstr>
      <vt:lpstr>第六章 函数</vt:lpstr>
      <vt:lpstr>6.1 函数的概述</vt:lpstr>
      <vt:lpstr>6.2 函数的定义和调用</vt:lpstr>
      <vt:lpstr>6.2 函数的定义和调用（函数的定义和调用.py）</vt:lpstr>
      <vt:lpstr>6.2 函数的定义和调用</vt:lpstr>
      <vt:lpstr>6.2 函数的定义和调用</vt:lpstr>
      <vt:lpstr>6.2 函数的定义和调用</vt:lpstr>
      <vt:lpstr>6.2 函数的定义和调用</vt:lpstr>
      <vt:lpstr>6.3 函数参数的传递</vt:lpstr>
      <vt:lpstr>6.3 函数参数的传递</vt:lpstr>
      <vt:lpstr>6.3 函数参数的传递</vt:lpstr>
      <vt:lpstr>6.3 函数参数的传递</vt:lpstr>
      <vt:lpstr>6.3 函数参数的传递</vt:lpstr>
      <vt:lpstr>6.3 函数参数的传递</vt:lpstr>
      <vt:lpstr>6.3 函数参数的传递</vt:lpstr>
      <vt:lpstr>6.3 函数参数的传递</vt:lpstr>
      <vt:lpstr>6.3 函数参数的传递</vt:lpstr>
      <vt:lpstr>6.4 函数的返回值</vt:lpstr>
      <vt:lpstr>6.4 函数的返回值</vt:lpstr>
      <vt:lpstr>6.5 变量的作用域</vt:lpstr>
      <vt:lpstr>6.5 变量的作用域</vt:lpstr>
      <vt:lpstr>6.5 变量的作用域</vt:lpstr>
      <vt:lpstr>6.5 变量的作用域</vt:lpstr>
      <vt:lpstr>6.5 变量的作用域</vt:lpstr>
      <vt:lpstr>6.7 特殊形式的函数</vt:lpstr>
      <vt:lpstr>6.7 特殊形式的函数</vt:lpstr>
      <vt:lpstr>6.7 特殊形式的函数</vt:lpstr>
      <vt:lpstr>6.7 特殊形式的函数</vt:lpstr>
      <vt:lpstr>6.8 本章小结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 su</dc:creator>
  <cp:lastModifiedBy>bo su</cp:lastModifiedBy>
  <cp:revision>47</cp:revision>
  <dcterms:created xsi:type="dcterms:W3CDTF">2026-02-19T02:03:12Z</dcterms:created>
  <dcterms:modified xsi:type="dcterms:W3CDTF">2026-04-18T13:52:25Z</dcterms:modified>
</cp:coreProperties>
</file>