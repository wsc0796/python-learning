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8" r:id="rId2"/>
    <p:sldId id="259" r:id="rId3"/>
    <p:sldId id="260" r:id="rId4"/>
    <p:sldId id="285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8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75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11:11.81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688.33105"/>
      <inkml:brushProperty name="anchorY" value="-6415.42578"/>
      <inkml:brushProperty name="scaleFactor" value="0.5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11:12.40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9534.99805"/>
      <inkml:brushProperty name="anchorY" value="-7262.09277"/>
      <inkml:brushProperty name="scaleFactor" value="0.5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11:14.17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381.66406"/>
      <inkml:brushProperty name="anchorY" value="-8108.75928"/>
      <inkml:brushProperty name="scaleFactor" value="0.5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962C1-6715-4CD4-84C2-F9891FBC2EC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52CA9-D7F8-46E5-9B0D-0961AE9C5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909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24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622A6-B55F-6849-ED50-F500BD81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E0E96B-4D79-ED7E-E3E8-3468C437D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3407DF-1697-DF22-8AA8-34A279BB4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CBD7A-A41A-102D-EC66-E6D5BD600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11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061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EE97E6-1C46-6A0B-5FCF-F5F2CD01BAD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823200" cy="6858000"/>
            <a:chOff x="0" y="0"/>
            <a:chExt cx="3696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642632E4-4245-36A0-B479-B0F18F173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053F9917-6B8A-869B-8D55-C5A3BB4053F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D9A0A92-2FB0-CD64-12F3-CAA88FD90713}"/>
              </a:ext>
            </a:extLst>
          </p:cNvPr>
          <p:cNvGrpSpPr>
            <a:grpSpLocks/>
          </p:cNvGrpSpPr>
          <p:nvPr/>
        </p:nvGrpSpPr>
        <p:grpSpPr bwMode="auto">
          <a:xfrm>
            <a:off x="4842933" y="4889500"/>
            <a:ext cx="6502400" cy="319088"/>
            <a:chOff x="2288" y="3080"/>
            <a:chExt cx="3072" cy="201"/>
          </a:xfrm>
        </p:grpSpPr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7B6B6E5E-5D29-AE52-546F-AAF6C3C3D64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/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A726F18E-C165-C12B-9333-F794926B3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/>
            </a:p>
          </p:txBody>
        </p:sp>
      </p:grpSp>
      <p:sp>
        <p:nvSpPr>
          <p:cNvPr id="1741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6231467" y="2927350"/>
            <a:ext cx="5350933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7420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990600"/>
            <a:ext cx="109728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0FEEDB1C-D0DB-1A71-7095-75B413B59B9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955D04B-D624-5A61-7D3D-03F4B12E00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B77346BF-A56A-8647-3972-D809B2E3EA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1601" y="6248400"/>
            <a:ext cx="783167" cy="488950"/>
          </a:xfrm>
        </p:spPr>
        <p:txBody>
          <a:bodyPr anchorCtr="0"/>
          <a:lstStyle>
            <a:lvl1pPr>
              <a:defRPr/>
            </a:lvl1pPr>
          </a:lstStyle>
          <a:p>
            <a:pPr>
              <a:defRPr/>
            </a:pPr>
            <a:fld id="{64446099-1A1C-414F-B961-3D3EDB2DBC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400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AEA6D6E-1A8C-AD40-5A98-B659807A08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FEB7C6F-50F6-C7CF-6E30-20DF73C587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716F7DF-2EC6-7DB9-38F6-48B97A086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7C1EE-E640-4EF9-8E2F-D6F7AA76F4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77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B9BD732-D42D-25ED-255D-7A28F8F118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F5E5AA5-3C02-AB16-56ED-A6F4B41E8D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B04EABE-7332-B71F-AEAE-FB28BE5AFF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DE191-0C6D-477F-817F-0054B1C73B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03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1" y="2362201"/>
            <a:ext cx="5027084" cy="3724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47884" y="2362201"/>
            <a:ext cx="5027083" cy="3724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6BA3352-B69E-FF50-CD0D-ABC593F1A8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23DFB4-3937-4D0D-CD38-F24915DCC1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566EF83-49A5-63E9-646D-DAB6AE9DC5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A3F3A-0818-41EF-8ADF-BE29F611E4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1841174-4A35-A602-0FDA-4B8BC8323B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F3F0298-B321-9871-EDC0-D691D77996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09642DA-2557-EFCD-545C-E07CEA1553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A0BF3-3687-471C-A529-E3DA89A1C5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69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EB23449-3FD6-3A97-217C-121A947509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4A46CD9-E7D2-213B-AA57-9CD6476988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C0383B6-9993-858D-8BAD-D8675EE1C3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80629-C604-4445-A984-795889DBA8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145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B5C19DB-379C-038D-FBCE-6E3ED76C52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CAABD4F5-280D-CC9C-437F-9A54FD9434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18214FD-F8EE-3380-5E51-92E53B0037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7857F-90AC-4030-B015-35703B8925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155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C845CD2-3329-D1E5-9D23-E073D51D77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9BC958D-6A0D-6AA9-226E-0E9F691416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880FE00-96B5-C75F-97A0-21F89EEE8F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FAF542-181C-487A-A948-D37B82CFC7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45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881AD54-E249-BEF2-638A-58370832F9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EB2E828-3484-BFEF-A1EA-868BE083F5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7D1B646-E840-CAEF-96B6-9A5394839E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BC037-36B6-4321-918E-574323A07A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557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3BD2EDF-5D68-3040-1445-EFD1E78926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48C139F-2EEF-7E9D-D6EE-FB6AA3275D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6BA2739-AD1C-B8E5-E4FE-36F759D34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E8BAD-0C4E-49F2-AAC3-7225817960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796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0800" y="762001"/>
            <a:ext cx="2641600" cy="53244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16000" y="762001"/>
            <a:ext cx="7721600" cy="53244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E9E5E0E-9126-2FF2-CECA-CB44C54A3F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F3D1349-3262-6A85-C5DB-7D08ABD430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FA0FDD-697D-7D9F-FCB0-019562BFE4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54EE4-00B6-4248-AD13-EA79996C29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680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E7995D9-93B0-E0A3-9528-DB339DEA73C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0160000" cy="6858000"/>
            <a:chOff x="0" y="0"/>
            <a:chExt cx="480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DA3A26DF-9AF0-0857-232D-BADDF923E1D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2E5D666E-8E32-2CEE-8349-E7061154C94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800"/>
              </a:p>
            </p:txBody>
          </p:sp>
          <p:sp>
            <p:nvSpPr>
              <p:cNvPr id="1037" name="Freeform 5">
                <a:extLst>
                  <a:ext uri="{FF2B5EF4-FFF2-40B4-BE49-F238E27FC236}">
                    <a16:creationId xmlns:a16="http://schemas.microsoft.com/office/drawing/2014/main" id="{08ACB68A-533B-2464-30F3-75E136EFE45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  <p:grpSp>
          <p:nvGrpSpPr>
            <p:cNvPr id="1033" name="Group 6">
              <a:extLst>
                <a:ext uri="{FF2B5EF4-FFF2-40B4-BE49-F238E27FC236}">
                  <a16:creationId xmlns:a16="http://schemas.microsoft.com/office/drawing/2014/main" id="{5D528CD6-B23A-CFFE-173F-F5D142D9B0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16CA3545-7E97-6213-34AE-58EC3D206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800"/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1005095D-AA64-36C8-66B9-1F5493CF8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800"/>
              </a:p>
            </p:txBody>
          </p:sp>
        </p:grpSp>
      </p:grpSp>
      <p:sp>
        <p:nvSpPr>
          <p:cNvPr id="1027" name="AutoShape 9">
            <a:extLst>
              <a:ext uri="{FF2B5EF4-FFF2-40B4-BE49-F238E27FC236}">
                <a16:creationId xmlns:a16="http://schemas.microsoft.com/office/drawing/2014/main" id="{CAE1D110-920B-96A0-85F7-19E4FAA94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762000"/>
            <a:ext cx="105664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B5602ACE-F6BF-EDDA-5E44-D2D8989AEC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1" y="2362201"/>
            <a:ext cx="10257367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4BD20D3D-B1BB-D132-FC37-19A7AA2804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51201" y="6248401"/>
            <a:ext cx="2840567" cy="474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00343E65-1318-F95A-1C83-BB6C633B5F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721600" y="6248401"/>
            <a:ext cx="3862917" cy="474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75E77340-A13D-56CB-3376-63B9D9F9EC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184" y="6242050"/>
            <a:ext cx="783167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099B610-AFFA-40FE-A1D6-9131B5D899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44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91D02631-6111-E067-4569-5F5880E0C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第七章 文件与数据格式化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7C1E114-8A9A-0273-4B81-E835407F6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学习目标</a:t>
            </a:r>
            <a:r>
              <a:rPr lang="en-US" altLang="zh-CN" dirty="0"/>
              <a:t>:</a:t>
            </a:r>
          </a:p>
          <a:p>
            <a:pPr eaLnBrk="1" hangingPunct="1"/>
            <a:r>
              <a:rPr lang="zh-CN" altLang="en-US" sz="2400" dirty="0"/>
              <a:t>了解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计算机中文件的类型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eaLnBrk="1" hangingPunct="1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掌握文件的基本操作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，可熟练管理文件与目录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eaLnBrk="1" hangingPunct="1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了解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数据维度的概念，掌握常见数据的格式化方法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0D7B163C-2485-E32E-DA38-9A05ED5B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084" y="783771"/>
            <a:ext cx="10566400" cy="1143000"/>
          </a:xfrm>
        </p:spPr>
        <p:txBody>
          <a:bodyPr/>
          <a:lstStyle/>
          <a:p>
            <a:pPr eaLnBrk="1" hangingPunct="1"/>
            <a:r>
              <a:rPr lang="en-US" altLang="zh-CN" dirty="0"/>
              <a:t>7.1 </a:t>
            </a:r>
            <a:r>
              <a:rPr lang="zh-CN" altLang="en-US" dirty="0"/>
              <a:t>文件概述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C83C0B2-871A-7387-24C9-4053D801C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601" y="2362200"/>
            <a:ext cx="10791370" cy="4495799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文件概念：计算机中的文件是以硬盘等外部介质为载体，存储在计算机中的数据的集合。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dirty="0">
                <a:solidFill>
                  <a:srgbClr val="003366"/>
                </a:solidFill>
                <a:latin typeface="Arial"/>
                <a:ea typeface="宋体"/>
              </a:rPr>
              <a:t>文件是以文件名为唯一确定的标识，以便识别和引用文件</a:t>
            </a:r>
            <a:endParaRPr lang="en-US" altLang="zh-CN" dirty="0">
              <a:solidFill>
                <a:srgbClr val="003366"/>
              </a:solidFill>
              <a:latin typeface="Arial"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文件名分为 路径，文件名主干和扩展名</a:t>
            </a:r>
            <a:endParaRPr lang="en-US" altLang="zh-CN" sz="2400" dirty="0">
              <a:solidFill>
                <a:srgbClr val="003366"/>
              </a:solidFill>
              <a:effectLst/>
              <a:latin typeface="Arial"/>
              <a:ea typeface="宋体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操作系统以文件名为单位对数据进行管理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文件分为：文本文件和二进制文件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文本文件：是以字符的方式进行存储，可以直接使用文字处理程序打开。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二进制文件：是以二进制方式进行存储，不能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直接使用文字处理程序打开。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必须关联程序才能正确获取文件信息。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1CEC29-5985-810A-8E3F-0A3889524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037" y="3943256"/>
            <a:ext cx="4324954" cy="13336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0D7B163C-2485-E32E-DA38-9A05ED5B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文件的基础操作</a:t>
            </a:r>
            <a:endParaRPr lang="zh-CN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C83C0B2-871A-7387-24C9-4053D801C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601" y="2362201"/>
            <a:ext cx="10813142" cy="436517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7.2.1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文件的打开与关闭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(04.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打开文件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1.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打开文件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在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Python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中可通过内置函数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open()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打开文件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,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语法格式如下：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en-US" altLang="zh-CN" sz="2000" dirty="0"/>
              <a:t>Open(file, mode=‘r’, encoding_=None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>
              <a:buNone/>
            </a:pPr>
            <a:r>
              <a:rPr lang="zh-CN" altLang="en-US" sz="2000" dirty="0"/>
              <a:t>使用</a:t>
            </a:r>
            <a:r>
              <a:rPr lang="en-US" altLang="zh-CN" sz="2000" dirty="0"/>
              <a:t>open</a:t>
            </a:r>
            <a:r>
              <a:rPr lang="zh-CN" altLang="en-US" sz="2000" dirty="0"/>
              <a:t>函数来打开一个文件</a:t>
            </a:r>
            <a:endParaRPr lang="en-US" altLang="zh-CN" sz="2000" dirty="0"/>
          </a:p>
          <a:p>
            <a:pPr>
              <a:buNone/>
            </a:pPr>
            <a:r>
              <a:rPr lang="zh-CN" altLang="en-US" sz="2000" dirty="0"/>
              <a:t>参数：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file </a:t>
            </a:r>
            <a:r>
              <a:rPr lang="zh-CN" altLang="en-US" sz="2000" dirty="0"/>
              <a:t>要打开的文件的名字或文件路径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mode='r' </a:t>
            </a:r>
            <a:r>
              <a:rPr lang="zh-CN" altLang="en-US" sz="2000" dirty="0"/>
              <a:t>以只读方式打开文本文件（默认）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Encoding</a:t>
            </a:r>
            <a:r>
              <a:rPr lang="zh-CN" altLang="en-US" sz="2000" dirty="0"/>
              <a:t>用于指定文件的编码格式。默认为</a:t>
            </a:r>
            <a:r>
              <a:rPr lang="en-US" altLang="zh-CN" sz="2000" dirty="0"/>
              <a:t>None </a:t>
            </a:r>
            <a:r>
              <a:rPr lang="zh-CN" altLang="en-US" sz="2000" dirty="0"/>
              <a:t>若打开文件有汉字应设定编码通常</a:t>
            </a:r>
            <a:r>
              <a:rPr lang="en-US" altLang="zh-CN" sz="2000" dirty="0"/>
              <a:t>utf-8</a:t>
            </a:r>
          </a:p>
          <a:p>
            <a:pPr>
              <a:buNone/>
            </a:pPr>
            <a:r>
              <a:rPr lang="zh-CN" altLang="en-US" sz="2000" dirty="0"/>
              <a:t>若指定文件不存在 将抛出</a:t>
            </a:r>
            <a:r>
              <a:rPr lang="en-US" altLang="zh-CN" sz="2000" dirty="0" err="1"/>
              <a:t>FileNotFoundError</a:t>
            </a:r>
            <a:r>
              <a:rPr lang="en-US" altLang="zh-CN" sz="2000" dirty="0"/>
              <a:t> </a:t>
            </a:r>
            <a:r>
              <a:rPr lang="zh-CN" altLang="en-US" sz="2000" dirty="0"/>
              <a:t>异常</a:t>
            </a:r>
            <a:endParaRPr lang="en-US" altLang="zh-CN" sz="2000" dirty="0"/>
          </a:p>
          <a:p>
            <a:pPr>
              <a:buNone/>
            </a:pPr>
            <a:r>
              <a:rPr lang="zh-CN" altLang="en-US" sz="2000" dirty="0"/>
              <a:t>返回值：返回一个对象，这个对象就代表了当前打开的文件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endParaRPr lang="zh-CN" altLang="en-US" sz="24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36FE432-A7A9-82B6-2028-4E075ECA3465}"/>
              </a:ext>
            </a:extLst>
          </p:cNvPr>
          <p:cNvGrpSpPr/>
          <p:nvPr/>
        </p:nvGrpSpPr>
        <p:grpSpPr>
          <a:xfrm>
            <a:off x="6858086" y="4974806"/>
            <a:ext cx="10800" cy="10800"/>
            <a:chOff x="6858086" y="4974806"/>
            <a:chExt cx="10800" cy="108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486C014D-3B2E-6B63-9B32-44D1DDD49B8F}"/>
                    </a:ext>
                  </a:extLst>
                </p14:cNvPr>
                <p14:cNvContentPartPr/>
                <p14:nvPr/>
              </p14:nvContentPartPr>
              <p14:xfrm>
                <a:off x="6858086" y="4974806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486C014D-3B2E-6B63-9B32-44D1DDD49B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40086" y="495716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20D58829-A716-7923-E1A7-07FE1F2E9AB0}"/>
                    </a:ext>
                  </a:extLst>
                </p14:cNvPr>
                <p14:cNvContentPartPr/>
                <p14:nvPr/>
              </p14:nvContentPartPr>
              <p14:xfrm>
                <a:off x="6858086" y="4974806"/>
                <a:ext cx="360" cy="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20D58829-A716-7923-E1A7-07FE1F2E9A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40086" y="495716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007C2BA6-1284-CA50-D895-FA66D2E9D696}"/>
                    </a:ext>
                  </a:extLst>
                </p14:cNvPr>
                <p14:cNvContentPartPr/>
                <p14:nvPr/>
              </p14:nvContentPartPr>
              <p14:xfrm>
                <a:off x="6868526" y="4985246"/>
                <a:ext cx="360" cy="3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007C2BA6-1284-CA50-D895-FA66D2E9D6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50886" y="496760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A67F3-07C3-021C-F22D-5920BB181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文件的基础操作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631D62-2F47-EC4B-1551-01820BCAC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516" y="2371725"/>
            <a:ext cx="10738455" cy="4290332"/>
          </a:xfrm>
        </p:spPr>
        <p:txBody>
          <a:bodyPr/>
          <a:lstStyle/>
          <a:p>
            <a:pPr>
              <a:buNone/>
            </a:pPr>
            <a:r>
              <a:rPr lang="en-US" altLang="zh-CN" sz="2400" dirty="0" err="1">
                <a:solidFill>
                  <a:srgbClr val="003366"/>
                </a:solidFill>
                <a:latin typeface="Arial"/>
                <a:ea typeface="宋体"/>
              </a:rPr>
              <a:t>file_name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 = 'demo5.txt’</a:t>
            </a:r>
          </a:p>
          <a:p>
            <a:pPr>
              <a:buNone/>
            </a:pP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以写的方式打开文本文件，如文件存在则重新文件，否则创建新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open(</a:t>
            </a:r>
            <a:r>
              <a:rPr lang="en-US" altLang="zh-CN" sz="2400" dirty="0" err="1">
                <a:solidFill>
                  <a:srgbClr val="003366"/>
                </a:solidFill>
                <a:latin typeface="Arial"/>
                <a:ea typeface="宋体"/>
              </a:rPr>
              <a:t>file_name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 , 'w' , encoding='utf-8')</a:t>
            </a:r>
          </a:p>
          <a:p>
            <a:pPr>
              <a:buNone/>
            </a:pP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以追加方式打开文本文件，只允许在文件末尾追加数据，若文件不存在，则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创建新文件。</a:t>
            </a:r>
            <a:b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</a:b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open(</a:t>
            </a:r>
            <a:r>
              <a:rPr lang="en-US" altLang="zh-CN" sz="2400" dirty="0" err="1">
                <a:solidFill>
                  <a:srgbClr val="003366"/>
                </a:solidFill>
                <a:latin typeface="Arial"/>
                <a:ea typeface="宋体"/>
              </a:rPr>
              <a:t>file_name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 , 'a' , encoding='utf-8')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650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0D7B163C-2485-E32E-DA38-9A05ED5B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文件的基础操作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C83C0B2-871A-7387-24C9-4053D801C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6000" y="2340430"/>
            <a:ext cx="10892971" cy="439782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 2.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关闭文件（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05.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关闭文件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（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1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） 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close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方法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close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方法是文件对象的内置方法可关闭已经打开的文件。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</a:rPr>
              <a:t>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（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</a:rPr>
              <a:t>2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） 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</a:rPr>
              <a:t>with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语句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Python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引入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with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语句预定义清理操作，实现文件的自动关闭。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try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with 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open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file_name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as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file_obj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file_obj.read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())   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except </a:t>
            </a:r>
            <a:r>
              <a:rPr lang="en-US" altLang="zh-CN" sz="2000" dirty="0" err="1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FileNotFoundError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file_name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文件不存在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~~'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,e)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7509E-9812-131A-F3C3-48A0A6B49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65C1D19B-3939-7EF0-6ED2-E80EB1BBE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2829" y="849086"/>
            <a:ext cx="10566400" cy="1143000"/>
          </a:xfrm>
        </p:spPr>
        <p:txBody>
          <a:bodyPr/>
          <a:lstStyle/>
          <a:p>
            <a:pPr eaLnBrk="1" hangingPunct="1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文件的基础操作</a:t>
            </a:r>
            <a:endParaRPr lang="zh-CN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CDAA23E-4E75-C969-5519-D2395FE87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601" y="2253343"/>
            <a:ext cx="10257367" cy="4811486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7.2.2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文件的读写（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06.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文件的读取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.</a:t>
            </a:r>
            <a:r>
              <a:rPr lang="en-US" altLang="zh-CN" sz="2400" b="1" dirty="0" err="1">
                <a:solidFill>
                  <a:srgbClr val="006666"/>
                </a:solidFill>
                <a:latin typeface="Arial"/>
                <a:ea typeface="宋体"/>
                <a:cs typeface="+mj-cs"/>
              </a:rPr>
              <a:t>py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07.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文件的读取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）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1.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读取文件：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（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1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）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read(n)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方法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: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从指定文件中读取指定字节的数据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若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n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未提供或设置为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-1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，则一次读取并返回文件中所有数据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（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2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） </a:t>
            </a:r>
            <a:r>
              <a:rPr lang="en-US" altLang="zh-CN" sz="2400" b="1" dirty="0" err="1">
                <a:solidFill>
                  <a:srgbClr val="006666"/>
                </a:solidFill>
                <a:latin typeface="Arial"/>
                <a:ea typeface="宋体"/>
                <a:cs typeface="+mj-cs"/>
              </a:rPr>
              <a:t>readline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()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方法：该方法从指定文件中读取一行数据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（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3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）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</a:t>
            </a:r>
            <a:r>
              <a:rPr lang="en-US" altLang="zh-CN" sz="2400" b="1" dirty="0" err="1">
                <a:solidFill>
                  <a:srgbClr val="006666"/>
                </a:solidFill>
                <a:latin typeface="Arial"/>
                <a:ea typeface="宋体"/>
                <a:cs typeface="+mj-cs"/>
              </a:rPr>
              <a:t>readlines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()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方法：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该方法可以一次性读取文件中所有数据，若读取成功返回一个列表，文件中每一行对应列表的一个元素。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35397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C9D6F-E200-73AA-DD14-B2C9F2FE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文件的基础操作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A5CC69-64F6-7EC3-EB2F-413D77F2C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97828"/>
          </a:xfrm>
        </p:spPr>
        <p:txBody>
          <a:bodyPr/>
          <a:lstStyle/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写文件（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08.</a:t>
            </a:r>
            <a:r>
              <a:rPr lang="zh-CN" altLang="en-US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文件的写入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zh-CN" altLang="en-US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write()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方法 来向文件中写入内容，如果操作的是一个文本文件的话，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write()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需要传递一个字符串作为参数，该方法会可以分多次向文件中写入内容，写入完成以后，该方法会返回写入的字符的个数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读写二进制文件（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09.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二进制文件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1125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C50E2-DD3D-8D25-5DD9-43BCF34E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文件的基础操作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728673-4A49-48D7-4E70-147C99E1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73086"/>
            <a:ext cx="10257367" cy="4484914"/>
          </a:xfrm>
        </p:spPr>
        <p:txBody>
          <a:bodyPr/>
          <a:lstStyle/>
          <a:p>
            <a:pPr>
              <a:buNone/>
            </a:pPr>
            <a:r>
              <a:rPr lang="en-US" altLang="zh-CN" sz="20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7.2.3 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文件的定位读写（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10.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读取文件的位置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.</a:t>
            </a:r>
            <a:r>
              <a:rPr lang="en-US" altLang="zh-CN" sz="2400" b="1" dirty="0" err="1">
                <a:solidFill>
                  <a:srgbClr val="006666"/>
                </a:solidFill>
                <a:latin typeface="Arial"/>
                <a:ea typeface="宋体"/>
                <a:cs typeface="+mj-cs"/>
              </a:rPr>
              <a:t>py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）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marL="0" indent="0">
              <a:buNone/>
            </a:pPr>
            <a:endParaRPr lang="en-US" altLang="zh-CN" sz="2400" b="1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marL="0" indent="0">
              <a:buNone/>
            </a:pPr>
            <a:r>
              <a:rPr lang="en-US" altLang="zh-CN" sz="2400" b="1">
                <a:solidFill>
                  <a:srgbClr val="006666"/>
                </a:solidFill>
                <a:latin typeface="Arial"/>
                <a:ea typeface="宋体"/>
                <a:cs typeface="+mj-cs"/>
              </a:rPr>
              <a:t>1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. tell()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方法用来获取文件当前读取的位置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2. seek()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方法可以修改当前读取的位置</a:t>
            </a:r>
          </a:p>
          <a:p>
            <a:pPr marL="0" indent="0">
              <a:buNone/>
            </a:pPr>
            <a:endParaRPr lang="zh-CN" altLang="en-US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8209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7D643-062B-0A4B-1FFB-BB9FDF89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文件的目录管理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F09A30-9EE5-D93A-D198-20A29AFEE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32513"/>
          </a:xfrm>
        </p:spPr>
        <p:txBody>
          <a:bodyPr/>
          <a:lstStyle/>
          <a:p>
            <a:pPr marL="0" indent="0">
              <a:buNone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 OS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模块定义了与文件操作相关的函数（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11.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文件的其他操作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py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）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删除文件</a:t>
            </a:r>
            <a:r>
              <a:rPr lang="en-US" altLang="zh-CN" sz="2400" dirty="0"/>
              <a:t>– remove</a:t>
            </a:r>
            <a:r>
              <a:rPr lang="zh-CN" altLang="en-US" sz="2400" dirty="0"/>
              <a:t>（）函数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文件重命名</a:t>
            </a:r>
            <a:r>
              <a:rPr lang="en-US" altLang="zh-CN" sz="2400" dirty="0"/>
              <a:t>—rename()</a:t>
            </a:r>
            <a:r>
              <a:rPr lang="zh-CN" altLang="en-US" sz="2400" dirty="0"/>
              <a:t>函数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3.</a:t>
            </a:r>
            <a:r>
              <a:rPr lang="zh-CN" altLang="en-US" sz="2400" dirty="0"/>
              <a:t>创建</a:t>
            </a:r>
            <a:r>
              <a:rPr lang="en-US" altLang="zh-CN" sz="2400" dirty="0"/>
              <a:t>/</a:t>
            </a:r>
            <a:r>
              <a:rPr lang="zh-CN" altLang="en-US" sz="2400" dirty="0"/>
              <a:t>删除目录</a:t>
            </a:r>
            <a:r>
              <a:rPr lang="en-US" altLang="zh-CN" sz="2400" dirty="0"/>
              <a:t>–-</a:t>
            </a:r>
            <a:r>
              <a:rPr lang="en-US" altLang="zh-CN" sz="2400" dirty="0" err="1"/>
              <a:t>mkdir</a:t>
            </a:r>
            <a:r>
              <a:rPr lang="en-US" altLang="zh-CN" sz="2400" dirty="0"/>
              <a:t>()/</a:t>
            </a:r>
            <a:r>
              <a:rPr lang="en-US" altLang="zh-CN" sz="2400" dirty="0" err="1"/>
              <a:t>rmdir</a:t>
            </a:r>
            <a:r>
              <a:rPr lang="en-US" altLang="zh-CN" sz="2400" dirty="0"/>
              <a:t>()</a:t>
            </a:r>
            <a:r>
              <a:rPr lang="zh-CN" altLang="en-US" sz="2400" dirty="0"/>
              <a:t>函数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4.</a:t>
            </a:r>
            <a:r>
              <a:rPr lang="zh-CN" altLang="en-US" sz="2400" dirty="0"/>
              <a:t>获取当前目录</a:t>
            </a:r>
            <a:r>
              <a:rPr lang="en-US" altLang="zh-CN" sz="2400" dirty="0"/>
              <a:t>---</a:t>
            </a:r>
            <a:r>
              <a:rPr lang="en-US" altLang="zh-CN" sz="2400" dirty="0" err="1"/>
              <a:t>getcwd</a:t>
            </a:r>
            <a:r>
              <a:rPr lang="en-US" altLang="zh-CN" sz="2400" dirty="0"/>
              <a:t>()</a:t>
            </a:r>
            <a:r>
              <a:rPr lang="zh-CN" altLang="en-US" sz="2400" dirty="0"/>
              <a:t>函数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5.</a:t>
            </a:r>
            <a:r>
              <a:rPr lang="zh-CN" altLang="en-US" sz="2400" dirty="0"/>
              <a:t>更改默认目录</a:t>
            </a:r>
            <a:r>
              <a:rPr lang="en-US" altLang="zh-CN" sz="2400" dirty="0"/>
              <a:t>—</a:t>
            </a:r>
            <a:r>
              <a:rPr lang="en-US" altLang="zh-CN" sz="2400" dirty="0" err="1"/>
              <a:t>chdir</a:t>
            </a:r>
            <a:r>
              <a:rPr lang="en-US" altLang="zh-CN" sz="2400" dirty="0"/>
              <a:t>()</a:t>
            </a:r>
            <a:r>
              <a:rPr lang="zh-CN" altLang="en-US" sz="2400" dirty="0"/>
              <a:t>函数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6.</a:t>
            </a:r>
            <a:r>
              <a:rPr lang="zh-CN" altLang="en-US" sz="2400" dirty="0"/>
              <a:t>获取文件名列表</a:t>
            </a:r>
            <a:r>
              <a:rPr lang="en-US" altLang="zh-CN" sz="2400" dirty="0"/>
              <a:t>---</a:t>
            </a:r>
            <a:r>
              <a:rPr lang="en-US" altLang="zh-CN" sz="2400" dirty="0" err="1"/>
              <a:t>listdir</a:t>
            </a:r>
            <a:r>
              <a:rPr lang="en-US" altLang="zh-CN" sz="2400" dirty="0"/>
              <a:t>()</a:t>
            </a:r>
            <a:r>
              <a:rPr lang="zh-CN" altLang="en-US" sz="2400" dirty="0"/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035122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15E82-4ABC-BAED-7E73-1C703ECC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7.5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数据维度与数据格式化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22B3C-36E8-B005-F667-D22C7677A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495799"/>
          </a:xfrm>
        </p:spPr>
        <p:txBody>
          <a:bodyPr/>
          <a:lstStyle/>
          <a:p>
            <a:pPr>
              <a:buNone/>
            </a:pP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7.5.1 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基于维度的数据分类</a:t>
            </a: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，一维数据：在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 一维列表，一维元组，一维集合都是一维数据</a:t>
            </a:r>
            <a:endParaRPr lang="en-US" altLang="zh-CN" sz="2400" b="1" dirty="0">
              <a:solidFill>
                <a:srgbClr val="008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二维数据：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Python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 二维列表，二维元组，都是二维数据，表格是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日常生活中最常见的二维数据的组织形式。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多维数据：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Python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 字典类型的数据是多维数据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7.5.2 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一维数据和二维数据的存储与读写</a:t>
            </a: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数据存储</a:t>
            </a: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一维数据呈线性排列，一般用逗号分隔。</a:t>
            </a: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二维数据可视为多条一维数据的集合。</a:t>
            </a: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/>
          </a:p>
          <a:p>
            <a:pPr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12587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59160-4AAF-233B-AD1F-09885D77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7.5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数据维度与数据格式化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CFBC37-40DD-4E26-1C0A-0BEF37EB2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824028" cy="4419599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CSV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文件：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国际上通用的一维数据和二维数据存储格式为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CSV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C</a:t>
            </a:r>
            <a:r>
              <a:rPr lang="en-US" altLang="zh-CN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SV</a:t>
            </a:r>
            <a:r>
              <a:rPr lang="zh-CN" altLang="en-US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文件以纯文本形式</a:t>
            </a:r>
            <a:endParaRPr lang="en-US" altLang="zh-CN" sz="2400" dirty="0">
              <a:solidFill>
                <a:srgbClr val="003366"/>
              </a:solidFill>
              <a:effectLst/>
              <a:latin typeface="Arial"/>
              <a:ea typeface="宋体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存储表格数据，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文件的每一行对应表格中的一条数据记录，</a:t>
            </a:r>
            <a:r>
              <a:rPr lang="zh-CN" altLang="en-US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每条记录由一个</a:t>
            </a:r>
            <a:endParaRPr lang="en-US" altLang="zh-CN" sz="2400" dirty="0">
              <a:solidFill>
                <a:srgbClr val="003366"/>
              </a:solidFill>
              <a:effectLst/>
              <a:latin typeface="Arial"/>
              <a:ea typeface="宋体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或多个字段组成，字段之间用逗号分隔</a:t>
            </a:r>
            <a:endParaRPr lang="en-US" altLang="zh-CN" sz="2400" dirty="0">
              <a:solidFill>
                <a:srgbClr val="003366"/>
              </a:solidFill>
              <a:effectLst/>
              <a:latin typeface="Arial"/>
              <a:ea typeface="宋体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2.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数据读取（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csv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数据读取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.</a:t>
            </a:r>
            <a:r>
              <a:rPr lang="en-US" altLang="zh-CN" sz="2400" dirty="0" err="1">
                <a:solidFill>
                  <a:srgbClr val="003366"/>
                </a:solidFill>
                <a:latin typeface="Arial"/>
                <a:ea typeface="宋体"/>
              </a:rPr>
              <a:t>py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）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计算机中采用</a:t>
            </a:r>
            <a:r>
              <a:rPr lang="en-US" altLang="zh-CN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CSV</a:t>
            </a:r>
            <a:r>
              <a:rPr lang="zh-CN" altLang="en-US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格式存储数据文件后缀一般为</a:t>
            </a:r>
            <a:r>
              <a:rPr lang="en-US" altLang="zh-CN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.csv </a:t>
            </a:r>
            <a:r>
              <a:rPr lang="zh-CN" altLang="en-US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可通过</a:t>
            </a:r>
            <a:r>
              <a:rPr lang="en-US" altLang="zh-CN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Excel</a:t>
            </a:r>
            <a:r>
              <a:rPr lang="zh-CN" altLang="en-US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或记事本打开</a:t>
            </a:r>
            <a:endParaRPr lang="en-US" altLang="zh-CN" sz="2400" dirty="0">
              <a:solidFill>
                <a:srgbClr val="003366"/>
              </a:solidFill>
              <a:effectLst/>
              <a:latin typeface="Arial"/>
              <a:ea typeface="宋体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读取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305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E5A71-258A-A328-3D44-AAE36F8A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7.5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数据维度与数据格式化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33D5AA-0A0D-A964-E2B0-2D79FD24A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343" y="2362201"/>
            <a:ext cx="10896600" cy="4343399"/>
          </a:xfrm>
        </p:spPr>
        <p:txBody>
          <a:bodyPr/>
          <a:lstStyle/>
          <a:p>
            <a:pPr>
              <a:buNone/>
            </a:pP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score.csv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文件中读取数据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csv_file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open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sz="24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score.csv'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dirty="0" err="1">
                <a:solidFill>
                  <a:srgbClr val="6600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encoding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'utf-8'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lines=[]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line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csv_file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:#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依次读取一行数据</a:t>
            </a: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line=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line.replace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‘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’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‘’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把该行数据的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‘\n’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替换成空串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lines.append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line.split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','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 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把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','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分隔的子列表追加到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line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列表中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(lines)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csv_file.close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>
              <a:buNone/>
            </a:pP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88618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01FE7-A23A-3192-9DF7-FD04628E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7.5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数据维度与数据格式化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89B4E-A412-CE04-F22A-DB50D719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495799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  3.</a:t>
            </a:r>
            <a:r>
              <a:rPr lang="zh-CN" altLang="en-US" sz="2400" dirty="0"/>
              <a:t>数据的写入（</a:t>
            </a:r>
            <a:r>
              <a:rPr lang="en-US" altLang="zh-CN" sz="2400" dirty="0"/>
              <a:t>csv</a:t>
            </a:r>
            <a:r>
              <a:rPr lang="zh-CN" altLang="en-US" sz="2400" dirty="0"/>
              <a:t>数据写入</a:t>
            </a:r>
            <a:r>
              <a:rPr lang="en-US" altLang="zh-CN" sz="2400" dirty="0"/>
              <a:t>.</a:t>
            </a:r>
            <a:r>
              <a:rPr lang="en-US" altLang="zh-CN" sz="2400" dirty="0" err="1"/>
              <a:t>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在文件中添加新数据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‘score.csv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文件中写入每名学生的总分</a:t>
            </a:r>
            <a:endParaRPr lang="zh-CN" altLang="en-US" sz="20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2794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0F080-DA34-0F8F-DB0A-F143AABE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7.5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数据维度与数据格式化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A74FA1-E355-D18F-4BFA-7654D774B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86942"/>
          </a:xfrm>
        </p:spPr>
        <p:txBody>
          <a:bodyPr/>
          <a:lstStyle/>
          <a:p>
            <a:pPr>
              <a:buNone/>
            </a:pPr>
            <a:r>
              <a:rPr lang="en-US" altLang="zh-CN" sz="2000" dirty="0"/>
              <a:t>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添加总分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 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range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(lines)-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idx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=i+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b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sun_score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b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j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 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range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(lines[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idx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])):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lines[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idx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][j].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isnumeric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():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如果该行元素是整数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sun_score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+=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(lines[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idx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][j])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lines[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idx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].append(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sun_score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累加和追加到该行末尾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line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lines: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(line)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file_new.write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','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.join(line)+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','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分隔数据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csv_file.close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file_new.close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>
              <a:buNone/>
            </a:pP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82255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4800B-BB38-7C3F-64C1-93F004AF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7.5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数据维度与数据格式化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5B1CA2-94A2-9654-90D0-FBF4F9800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921999" cy="4321628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7.5.3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多维数据的格式化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三维以上的多维数据统一采用键值对的形式进行格式化。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网络中常见的高维数据格式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—JSON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就是用以上方式格式化数据的。</a:t>
            </a: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/>
          </a:p>
          <a:p>
            <a:pPr marL="514350" indent="-514350">
              <a:buAutoNum type="arabicParenBoth"/>
            </a:pPr>
            <a:endParaRPr lang="zh-CN" altLang="en-US" sz="28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8438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E3E1D-2FDC-890A-5374-12F66958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7.6 </a:t>
            </a:r>
            <a:r>
              <a:rPr lang="zh-CN" altLang="en-US" dirty="0">
                <a:solidFill>
                  <a:srgbClr val="006666"/>
                </a:solidFill>
                <a:latin typeface="Arial"/>
                <a:ea typeface="宋体"/>
              </a:rPr>
              <a:t>本章小结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0D13CE-6BA0-39A2-E77C-DAAB13BAE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  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章主要介绍了文件与数据格式化相关的知识，包括计算机中文件的定义、文件的基本操作、文件与目录管理、数据维度与数据格式化。通过本章的学习，能了解计算机中文件的意义、熟练地读取和管理文件，并掌握常见的数据组织形式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9471990"/>
      </p:ext>
    </p:extLst>
  </p:cSld>
  <p:clrMapOvr>
    <a:masterClrMapping/>
  </p:clrMapOvr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75000"/>
          <a:buFont typeface="Wingdings" panose="05000000000000000000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75000"/>
          <a:buFont typeface="Wingdings" panose="05000000000000000000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1425</Words>
  <Application>Microsoft Office PowerPoint</Application>
  <PresentationFormat>宽屏</PresentationFormat>
  <Paragraphs>121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宋体</vt:lpstr>
      <vt:lpstr>Arial</vt:lpstr>
      <vt:lpstr>Times New Roman</vt:lpstr>
      <vt:lpstr>Wingdings</vt:lpstr>
      <vt:lpstr>Capsules</vt:lpstr>
      <vt:lpstr>第七章 文件与数据格式化</vt:lpstr>
      <vt:lpstr>7.1 文件概述</vt:lpstr>
      <vt:lpstr>7.2 文件的基础操作</vt:lpstr>
      <vt:lpstr>7.2 文件的基础操作</vt:lpstr>
      <vt:lpstr>7.2 文件的基础操作</vt:lpstr>
      <vt:lpstr>7.2 文件的基础操作</vt:lpstr>
      <vt:lpstr>7.2 文件的基础操作</vt:lpstr>
      <vt:lpstr>7.2 文件的基础操作</vt:lpstr>
      <vt:lpstr>7.3 文件的目录管理</vt:lpstr>
      <vt:lpstr>7.5 数据维度与数据格式化</vt:lpstr>
      <vt:lpstr>7.5 数据维度与数据格式化</vt:lpstr>
      <vt:lpstr>7.5 数据维度与数据格式化</vt:lpstr>
      <vt:lpstr>7.5 数据维度与数据格式化</vt:lpstr>
      <vt:lpstr>7.5 数据维度与数据格式化</vt:lpstr>
      <vt:lpstr>7.5 数据维度与数据格式化</vt:lpstr>
      <vt:lpstr>7.6 本章小结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 su</dc:creator>
  <cp:lastModifiedBy>bo su</cp:lastModifiedBy>
  <cp:revision>57</cp:revision>
  <dcterms:created xsi:type="dcterms:W3CDTF">2026-02-19T02:03:12Z</dcterms:created>
  <dcterms:modified xsi:type="dcterms:W3CDTF">2026-05-19T14:30:50Z</dcterms:modified>
</cp:coreProperties>
</file>