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258" r:id="rId2"/>
    <p:sldId id="259" r:id="rId3"/>
    <p:sldId id="260" r:id="rId4"/>
    <p:sldId id="285" r:id="rId5"/>
    <p:sldId id="261" r:id="rId6"/>
    <p:sldId id="262" r:id="rId7"/>
    <p:sldId id="295" r:id="rId8"/>
    <p:sldId id="313" r:id="rId9"/>
    <p:sldId id="263" r:id="rId10"/>
    <p:sldId id="315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86" r:id="rId20"/>
    <p:sldId id="287" r:id="rId21"/>
    <p:sldId id="288" r:id="rId22"/>
    <p:sldId id="289" r:id="rId23"/>
    <p:sldId id="290" r:id="rId24"/>
    <p:sldId id="291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7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11:11.81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8688.33105"/>
      <inkml:brushProperty name="anchorY" value="-6415.42578"/>
      <inkml:brushProperty name="scaleFactor" value="0.5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11:12.40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9534.99805"/>
      <inkml:brushProperty name="anchorY" value="-7262.09277"/>
      <inkml:brushProperty name="scaleFactor" value="0.5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11:14.17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0381.66406"/>
      <inkml:brushProperty name="anchorY" value="-8108.75928"/>
      <inkml:brushProperty name="scaleFactor" value="0.5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962C1-6715-4CD4-84C2-F9891FBC2ECE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52CA9-D7F8-46E5-9B0D-0961AE9C5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909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52CA9-D7F8-46E5-9B0D-0961AE9C5E2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024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622A6-B55F-6849-ED50-F500BD81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E0E96B-4D79-ED7E-E3E8-3468C437D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3407DF-1697-DF22-8AA8-34A279BB4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CCBD7A-A41A-102D-EC66-E6D5BD600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52CA9-D7F8-46E5-9B0D-0961AE9C5E2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11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52CA9-D7F8-46E5-9B0D-0961AE9C5E2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906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52CA9-D7F8-46E5-9B0D-0961AE9C5E2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061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EE97E6-1C46-6A0B-5FCF-F5F2CD01BAD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823200" cy="6858000"/>
            <a:chOff x="0" y="0"/>
            <a:chExt cx="3696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642632E4-4245-36A0-B479-B0F18F173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053F9917-6B8A-869B-8D55-C5A3BB4053F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D9A0A92-2FB0-CD64-12F3-CAA88FD90713}"/>
              </a:ext>
            </a:extLst>
          </p:cNvPr>
          <p:cNvGrpSpPr>
            <a:grpSpLocks/>
          </p:cNvGrpSpPr>
          <p:nvPr/>
        </p:nvGrpSpPr>
        <p:grpSpPr bwMode="auto">
          <a:xfrm>
            <a:off x="4842933" y="4889500"/>
            <a:ext cx="6502400" cy="319088"/>
            <a:chOff x="2288" y="3080"/>
            <a:chExt cx="3072" cy="201"/>
          </a:xfrm>
        </p:grpSpPr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7B6B6E5E-5D29-AE52-546F-AAF6C3C3D64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/>
            </a:p>
          </p:txBody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A726F18E-C165-C12B-9333-F794926B3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/>
            </a:p>
          </p:txBody>
        </p:sp>
      </p:grpSp>
      <p:sp>
        <p:nvSpPr>
          <p:cNvPr id="1741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6231467" y="2927350"/>
            <a:ext cx="5350933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7420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990600"/>
            <a:ext cx="109728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0FEEDB1C-D0DB-1A71-7095-75B413B59B9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3955D04B-D624-5A61-7D3D-03F4B12E00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B77346BF-A56A-8647-3972-D809B2E3EA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1601" y="6248400"/>
            <a:ext cx="783167" cy="488950"/>
          </a:xfrm>
        </p:spPr>
        <p:txBody>
          <a:bodyPr anchorCtr="0"/>
          <a:lstStyle>
            <a:lvl1pPr>
              <a:defRPr/>
            </a:lvl1pPr>
          </a:lstStyle>
          <a:p>
            <a:pPr>
              <a:defRPr/>
            </a:pPr>
            <a:fld id="{64446099-1A1C-414F-B961-3D3EDB2DBC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400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AEA6D6E-1A8C-AD40-5A98-B659807A08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FEB7C6F-50F6-C7CF-6E30-20DF73C587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716F7DF-2EC6-7DB9-38F6-48B97A086F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7C1EE-E640-4EF9-8E2F-D6F7AA76F4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9775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B9BD732-D42D-25ED-255D-7A28F8F118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F5E5AA5-3C02-AB16-56ED-A6F4B41E8D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B04EABE-7332-B71F-AEAE-FB28BE5AFF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DE191-0C6D-477F-817F-0054B1C73B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03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601" y="2362201"/>
            <a:ext cx="5027084" cy="3724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47884" y="2362201"/>
            <a:ext cx="5027083" cy="3724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6BA3352-B69E-FF50-CD0D-ABC593F1A8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D23DFB4-3937-4D0D-CD38-F24915DCC1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566EF83-49A5-63E9-646D-DAB6AE9DC5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A3F3A-0818-41EF-8ADF-BE29F611E4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77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1841174-4A35-A602-0FDA-4B8BC8323B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F3F0298-B321-9871-EDC0-D691D77996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709642DA-2557-EFCD-545C-E07CEA1553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A0BF3-3687-471C-A529-E3DA89A1C5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69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EB23449-3FD6-3A97-217C-121A947509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4A46CD9-E7D2-213B-AA57-9CD6476988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C0383B6-9993-858D-8BAD-D8675EE1C3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80629-C604-4445-A984-795889DBA8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145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B5C19DB-379C-038D-FBCE-6E3ED76C52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CAABD4F5-280D-CC9C-437F-9A54FD9434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18214FD-F8EE-3380-5E51-92E53B0037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B7857F-90AC-4030-B015-35703B8925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1557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C845CD2-3329-D1E5-9D23-E073D51D77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9BC958D-6A0D-6AA9-226E-0E9F691416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880FE00-96B5-C75F-97A0-21F89EEE8F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FAF542-181C-487A-A948-D37B82CFC7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45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881AD54-E249-BEF2-638A-58370832F9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EB2E828-3484-BFEF-A1EA-868BE083F5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7D1B646-E840-CAEF-96B6-9A5394839E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BC037-36B6-4321-918E-574323A07A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5576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3BD2EDF-5D68-3040-1445-EFD1E78926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48C139F-2EEF-7E9D-D6EE-FB6AA3275D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6BA2739-AD1C-B8E5-E4FE-36F759D341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7E8BAD-0C4E-49F2-AAC3-7225817960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796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0800" y="762001"/>
            <a:ext cx="2641600" cy="53244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16000" y="762001"/>
            <a:ext cx="7721600" cy="53244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E9E5E0E-9126-2FF2-CECA-CB44C54A3F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F3D1349-3262-6A85-C5DB-7D08ABD430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FA0FDD-697D-7D9F-FCB0-019562BFE4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54EE4-00B6-4248-AD13-EA79996C29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680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CE7995D9-93B0-E0A3-9528-DB339DEA73C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0160000" cy="6858000"/>
            <a:chOff x="0" y="0"/>
            <a:chExt cx="480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DA3A26DF-9AF0-0857-232D-BADDF923E1D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036" name="Rectangle 4">
                <a:extLst>
                  <a:ext uri="{FF2B5EF4-FFF2-40B4-BE49-F238E27FC236}">
                    <a16:creationId xmlns:a16="http://schemas.microsoft.com/office/drawing/2014/main" id="{2E5D666E-8E32-2CEE-8349-E7061154C94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800"/>
              </a:p>
            </p:txBody>
          </p:sp>
          <p:sp>
            <p:nvSpPr>
              <p:cNvPr id="1037" name="Freeform 5">
                <a:extLst>
                  <a:ext uri="{FF2B5EF4-FFF2-40B4-BE49-F238E27FC236}">
                    <a16:creationId xmlns:a16="http://schemas.microsoft.com/office/drawing/2014/main" id="{08ACB68A-533B-2464-30F3-75E136EFE45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</p:grpSp>
        <p:grpSp>
          <p:nvGrpSpPr>
            <p:cNvPr id="1033" name="Group 6">
              <a:extLst>
                <a:ext uri="{FF2B5EF4-FFF2-40B4-BE49-F238E27FC236}">
                  <a16:creationId xmlns:a16="http://schemas.microsoft.com/office/drawing/2014/main" id="{5D528CD6-B23A-CFFE-173F-F5D142D9B0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034" name="AutoShape 7">
                <a:extLst>
                  <a:ext uri="{FF2B5EF4-FFF2-40B4-BE49-F238E27FC236}">
                    <a16:creationId xmlns:a16="http://schemas.microsoft.com/office/drawing/2014/main" id="{16CA3545-7E97-6213-34AE-58EC3D206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800"/>
              </a:p>
            </p:txBody>
          </p:sp>
          <p:sp>
            <p:nvSpPr>
              <p:cNvPr id="1035" name="AutoShape 8">
                <a:extLst>
                  <a:ext uri="{FF2B5EF4-FFF2-40B4-BE49-F238E27FC236}">
                    <a16:creationId xmlns:a16="http://schemas.microsoft.com/office/drawing/2014/main" id="{1005095D-AA64-36C8-66B9-1F5493CF8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800"/>
              </a:p>
            </p:txBody>
          </p:sp>
        </p:grpSp>
      </p:grpSp>
      <p:sp>
        <p:nvSpPr>
          <p:cNvPr id="1027" name="AutoShape 9">
            <a:extLst>
              <a:ext uri="{FF2B5EF4-FFF2-40B4-BE49-F238E27FC236}">
                <a16:creationId xmlns:a16="http://schemas.microsoft.com/office/drawing/2014/main" id="{CAE1D110-920B-96A0-85F7-19E4FAA94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16000" y="762000"/>
            <a:ext cx="105664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B5602ACE-F6BF-EDDA-5E44-D2D8989AEC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1" y="2362201"/>
            <a:ext cx="10257367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395" name="Rectangle 11">
            <a:extLst>
              <a:ext uri="{FF2B5EF4-FFF2-40B4-BE49-F238E27FC236}">
                <a16:creationId xmlns:a16="http://schemas.microsoft.com/office/drawing/2014/main" id="{4BD20D3D-B1BB-D132-FC37-19A7AA2804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51201" y="6248401"/>
            <a:ext cx="2840567" cy="474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6" name="Rectangle 12">
            <a:extLst>
              <a:ext uri="{FF2B5EF4-FFF2-40B4-BE49-F238E27FC236}">
                <a16:creationId xmlns:a16="http://schemas.microsoft.com/office/drawing/2014/main" id="{00343E65-1318-F95A-1C83-BB6C633B5F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721600" y="6248401"/>
            <a:ext cx="3862917" cy="474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7" name="Rectangle 13">
            <a:extLst>
              <a:ext uri="{FF2B5EF4-FFF2-40B4-BE49-F238E27FC236}">
                <a16:creationId xmlns:a16="http://schemas.microsoft.com/office/drawing/2014/main" id="{75E77340-A13D-56CB-3376-63B9D9F9EC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184" y="6242050"/>
            <a:ext cx="783167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26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099B610-AFFA-40FE-A1D6-9131B5D899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8449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>
            <a:extLst>
              <a:ext uri="{FF2B5EF4-FFF2-40B4-BE49-F238E27FC236}">
                <a16:creationId xmlns:a16="http://schemas.microsoft.com/office/drawing/2014/main" id="{91D02631-6111-E067-4569-5F5880E0C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第八</a:t>
            </a:r>
            <a:r>
              <a:rPr lang="zh-CN" altLang="en-US"/>
              <a:t>章 面向对象</a:t>
            </a:r>
            <a:endParaRPr lang="zh-CN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7C1E114-8A9A-0273-4B81-E835407F6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学习目标</a:t>
            </a:r>
            <a:r>
              <a:rPr lang="en-US" altLang="zh-CN" dirty="0"/>
              <a:t>:</a:t>
            </a:r>
          </a:p>
          <a:p>
            <a:pPr eaLnBrk="1" hangingPunct="1"/>
            <a:r>
              <a:rPr lang="zh-CN" altLang="en-US" sz="2400" dirty="0"/>
              <a:t>理解面向对象的编程思想</a:t>
            </a:r>
            <a:endParaRPr lang="en-US" altLang="zh-CN" sz="2400" dirty="0"/>
          </a:p>
          <a:p>
            <a:pPr eaLnBrk="1" hangingPunct="1"/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明确类和对象的关系，可独立设计和使用类</a:t>
            </a: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 eaLnBrk="1" hangingPunct="1"/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理解类的属性和方法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eaLnBrk="1" hangingPunct="1"/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掌握构造方法和析构方法的使用</a:t>
            </a: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 eaLnBrk="1" hangingPunct="1"/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理解面向对象的三大特性：封装，继承，多态，并能熟练地应用到程序开发中。</a:t>
            </a: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 eaLnBrk="1" hangingPunct="1"/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掌握运算符的重载方法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0D7B163C-2485-E32E-DA38-9A05ED5B9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3084" y="783771"/>
            <a:ext cx="10566400" cy="1143000"/>
          </a:xfrm>
        </p:spPr>
        <p:txBody>
          <a:bodyPr/>
          <a:lstStyle/>
          <a:p>
            <a:pPr eaLnBrk="1" hangingPunct="1"/>
            <a:r>
              <a:rPr lang="en-US" altLang="zh-CN" dirty="0"/>
              <a:t>8.1 </a:t>
            </a:r>
            <a:r>
              <a:rPr lang="zh-CN" altLang="en-US" dirty="0"/>
              <a:t>面向对象概述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C83C0B2-871A-7387-24C9-4053D801C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7601" y="2362200"/>
            <a:ext cx="10791370" cy="4495799"/>
          </a:xfr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什么是对象？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对象是内存中专门用来存储数据的一块区域。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对象中可以存放各种数据（比如：数字、布尔值、代码）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对象由三部分组成：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1.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对象的标识（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id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2.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对象的类型（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type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3.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对象的值（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value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0D7B163C-2485-E32E-DA38-9A05ED5B9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面向对象概述</a:t>
            </a:r>
            <a:endParaRPr lang="zh-CN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C83C0B2-871A-7387-24C9-4053D801C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6001" y="2351314"/>
            <a:ext cx="10990942" cy="4376057"/>
          </a:xfr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面向对象（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oop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Python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是一门面向对象的编程语言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所谓的面向对象的语言，简单理解就是语言中的所有操作都是通过对象来进行的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36FE432-A7A9-82B6-2028-4E075ECA3465}"/>
              </a:ext>
            </a:extLst>
          </p:cNvPr>
          <p:cNvGrpSpPr/>
          <p:nvPr/>
        </p:nvGrpSpPr>
        <p:grpSpPr>
          <a:xfrm>
            <a:off x="6858086" y="4974806"/>
            <a:ext cx="10800" cy="10800"/>
            <a:chOff x="6858086" y="4974806"/>
            <a:chExt cx="10800" cy="108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486C014D-3B2E-6B63-9B32-44D1DDD49B8F}"/>
                    </a:ext>
                  </a:extLst>
                </p14:cNvPr>
                <p14:cNvContentPartPr/>
                <p14:nvPr/>
              </p14:nvContentPartPr>
              <p14:xfrm>
                <a:off x="6858086" y="4974806"/>
                <a:ext cx="360" cy="3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486C014D-3B2E-6B63-9B32-44D1DDD49B8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40086" y="495716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20D58829-A716-7923-E1A7-07FE1F2E9AB0}"/>
                    </a:ext>
                  </a:extLst>
                </p14:cNvPr>
                <p14:cNvContentPartPr/>
                <p14:nvPr/>
              </p14:nvContentPartPr>
              <p14:xfrm>
                <a:off x="6858086" y="4974806"/>
                <a:ext cx="360" cy="36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20D58829-A716-7923-E1A7-07FE1F2E9A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40086" y="495716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007C2BA6-1284-CA50-D895-FA66D2E9D696}"/>
                    </a:ext>
                  </a:extLst>
                </p14:cNvPr>
                <p14:cNvContentPartPr/>
                <p14:nvPr/>
              </p14:nvContentPartPr>
              <p14:xfrm>
                <a:off x="6868526" y="4985246"/>
                <a:ext cx="360" cy="36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007C2BA6-1284-CA50-D895-FA66D2E9D6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50886" y="496760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A67F3-07C3-021C-F22D-5920BB181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面向对象概述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631D62-2F47-EC4B-1551-01820BCAC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516" y="2188028"/>
            <a:ext cx="10738455" cy="4746171"/>
          </a:xfr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面向过程的编程的语言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概念：面向过程指将程序的逻辑分解为一个一个的步骤，通过对每个步骤的抽象，来完成程序。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面向过程的编程思想：是将一个功能分解为一个一个小的步骤，我们通过完成一个一个的小的步骤来完成一个程序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优点：这种编程方式，符合我们人类的思维，编写起来相对比较简单。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缺点：这种方式编写代码的往往只适用于一个功能，如果要在实现别的功能，即使功能相差极小，也往往要重新编写代码，所以它可复用性比较低，并且难于维护</a:t>
            </a: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6502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0D7B163C-2485-E32E-DA38-9A05ED5B9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8.1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面向对象概述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C83C0B2-871A-7387-24C9-4053D801C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9286" y="2318659"/>
            <a:ext cx="10566400" cy="4397828"/>
          </a:xfr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面向对象的编程语言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概念：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面向对象的编程语言，关注的是对象，而不关注过程 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对于面向对象的语言来说，一切都是对象 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面向对象的编程思想，将所有的功能统一保存到对应的对象中，要使用某个功能，直接找到对应的对象即可。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优点：这种方式编写的代码比较容易阅读，并且比较易于维护，容易复用。</a:t>
            </a:r>
          </a:p>
          <a:p>
            <a:pPr>
              <a:buNone/>
            </a:pP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7509E-9812-131A-F3C3-48A0A6B49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65C1D19B-3939-7EF0-6ED2-E80EB1BBE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2829" y="849086"/>
            <a:ext cx="10566400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006666"/>
                </a:solidFill>
                <a:latin typeface="Arial"/>
                <a:ea typeface="宋体"/>
              </a:rPr>
              <a:t>8.2 </a:t>
            </a:r>
            <a:r>
              <a:rPr lang="zh-CN" altLang="en-US" dirty="0">
                <a:solidFill>
                  <a:srgbClr val="006666"/>
                </a:solidFill>
                <a:latin typeface="Arial"/>
                <a:ea typeface="宋体"/>
              </a:rPr>
              <a:t>类与对象的基础应用</a:t>
            </a:r>
            <a:endParaRPr lang="zh-CN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CDAA23E-4E75-C969-5519-D2395FE871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7601" y="2253343"/>
            <a:ext cx="10856685" cy="4811486"/>
          </a:xfrm>
        </p:spPr>
        <p:txBody>
          <a:bodyPr/>
          <a:lstStyle/>
          <a:p>
            <a:pPr>
              <a:buNone/>
            </a:pPr>
            <a:r>
              <a:rPr lang="zh-CN" altLang="en-US" sz="2400" dirty="0"/>
              <a:t>对象是对问题领域事务的抽象。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类是对具有相同特性和行为的对象的抽象。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对象是类的实例。</a:t>
            </a:r>
            <a:endParaRPr lang="en-US" altLang="zh-CN" sz="2400" dirty="0"/>
          </a:p>
          <a:p>
            <a:pPr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35397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A0DE7-D3D3-6351-A7E4-C6E3740AD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类与对象的基础应用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619810-97F3-1D56-E897-7BD00F7DE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2307772"/>
            <a:ext cx="10878456" cy="4550227"/>
          </a:xfrm>
        </p:spPr>
        <p:txBody>
          <a:bodyPr/>
          <a:lstStyle/>
          <a:p>
            <a:pPr lvl="0">
              <a:buClr>
                <a:srgbClr val="003366"/>
              </a:buClr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8.2.1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类</a:t>
            </a:r>
            <a:r>
              <a:rPr lang="zh-CN" altLang="en-US" sz="2400" dirty="0">
                <a:solidFill>
                  <a:srgbClr val="003366"/>
                </a:solidFill>
              </a:rPr>
              <a:t>的定义（类的定义对象的创建与使用</a:t>
            </a:r>
            <a:r>
              <a:rPr lang="en-US" altLang="zh-CN" sz="2400" dirty="0">
                <a:solidFill>
                  <a:srgbClr val="003366"/>
                </a:solidFill>
              </a:rPr>
              <a:t>.</a:t>
            </a:r>
            <a:r>
              <a:rPr lang="en-US" altLang="zh-CN" sz="2400" dirty="0" err="1">
                <a:solidFill>
                  <a:srgbClr val="003366"/>
                </a:solidFill>
              </a:rPr>
              <a:t>py</a:t>
            </a:r>
            <a:r>
              <a:rPr lang="en-US" altLang="zh-CN" sz="2400" dirty="0">
                <a:solidFill>
                  <a:srgbClr val="003366"/>
                </a:solidFill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语法如下：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class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类名：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属性名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=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属性值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def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方法名（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self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”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方法体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indent="0">
              <a:buNone/>
            </a:pPr>
            <a:r>
              <a:rPr lang="zh-CN" altLang="en-US" sz="2400" dirty="0"/>
              <a:t>说明：</a:t>
            </a:r>
            <a:r>
              <a:rPr lang="en-US" altLang="zh-CN" sz="2400" dirty="0"/>
              <a:t>class</a:t>
            </a:r>
            <a:r>
              <a:rPr lang="zh-CN" altLang="en-US" sz="2400" dirty="0"/>
              <a:t>关键字标识类的开始；类名代表类的标识符，采用大驼峰命名法；冒号后跟着属性和方法，方法参数列表中的第一个参数是一个指代对象的</a:t>
            </a:r>
            <a:r>
              <a:rPr lang="en-US" altLang="zh-CN" sz="2400" dirty="0"/>
              <a:t>self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 :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wheels=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b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drive 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行驶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08206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C7861C-36D8-E075-3244-859F80B50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类与对象的基础应用</a:t>
            </a:r>
          </a:p>
        </p:txBody>
      </p:sp>
      <p:pic>
        <p:nvPicPr>
          <p:cNvPr id="28" name="内容占位符 27">
            <a:extLst>
              <a:ext uri="{FF2B5EF4-FFF2-40B4-BE49-F238E27FC236}">
                <a16:creationId xmlns:a16="http://schemas.microsoft.com/office/drawing/2014/main" id="{DBF5339C-C98B-419A-22FF-FFBE52269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016000" y="2362200"/>
            <a:ext cx="9968456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375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C9D6F-E200-73AA-DD14-B2C9F2FEA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831" y="783771"/>
            <a:ext cx="10566400" cy="1143000"/>
          </a:xfrm>
        </p:spPr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类与对象的基础应用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A5CC69-64F6-7EC3-EB2F-413D77F2C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144" y="2373087"/>
            <a:ext cx="10257367" cy="4397828"/>
          </a:xfrm>
        </p:spPr>
        <p:txBody>
          <a:bodyPr/>
          <a:lstStyle/>
          <a:p>
            <a:pPr lvl="0">
              <a:buClr>
                <a:srgbClr val="003366"/>
              </a:buClr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8.2.2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对象的创建和使用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lvl="0">
              <a:buClr>
                <a:srgbClr val="003366"/>
              </a:buClr>
              <a:buNone/>
              <a:defRPr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对象的创建格式：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</a:endParaRPr>
          </a:p>
          <a:p>
            <a:pPr lvl="0">
              <a:buClr>
                <a:srgbClr val="003366"/>
              </a:buClr>
              <a:buNone/>
              <a:defRPr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对象名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</a:rPr>
              <a:t>=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</a:rPr>
              <a:t>类名（）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car=Car()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创建对象</a:t>
            </a: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400" dirty="0"/>
              <a:t>对象的使用格式：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对象名</a:t>
            </a:r>
            <a:r>
              <a:rPr lang="en-US" altLang="zh-CN" sz="2400" dirty="0"/>
              <a:t>.</a:t>
            </a:r>
            <a:r>
              <a:rPr lang="zh-CN" altLang="en-US" sz="2400" dirty="0"/>
              <a:t>属性名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对象名</a:t>
            </a:r>
            <a:r>
              <a:rPr lang="en-US" altLang="zh-CN" sz="2400" dirty="0"/>
              <a:t>.</a:t>
            </a:r>
            <a:r>
              <a:rPr lang="zh-CN" altLang="en-US" sz="2400" dirty="0"/>
              <a:t>方法名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car.wheels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访问属性</a:t>
            </a:r>
            <a:endParaRPr lang="en-US" altLang="zh-CN" sz="2400" i="1" dirty="0">
              <a:solidFill>
                <a:srgbClr val="808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car.drive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 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调用方法</a:t>
            </a: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1125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72FB2-9DFB-D833-6181-810ECFCB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类与对象的基础应用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6017924-F7D8-CE32-8FB5-DFC9FB006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17600" y="2318658"/>
            <a:ext cx="10868025" cy="4539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673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C50E2-DD3D-8D25-5DD9-43BCF34E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类的成员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728673-4A49-48D7-4E70-147C99E17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2373086"/>
            <a:ext cx="11074399" cy="4484914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类的成员包括属性和方法 默认可以在类的外部被访问和调用。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按照封装的要求，属性应该设为私有，外部通过类的公有方法访问私有属性。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effectLst/>
                <a:latin typeface="Arial"/>
                <a:ea typeface="宋体"/>
                <a:cs typeface="+mj-cs"/>
              </a:rPr>
              <a:t>8.3.1 </a:t>
            </a:r>
            <a:r>
              <a:rPr lang="zh-CN" altLang="en-US" sz="2400" b="1" dirty="0">
                <a:solidFill>
                  <a:srgbClr val="006666"/>
                </a:solidFill>
                <a:effectLst/>
                <a:latin typeface="Arial"/>
                <a:ea typeface="宋体"/>
                <a:cs typeface="+mj-cs"/>
              </a:rPr>
              <a:t>属性</a:t>
            </a:r>
            <a:endParaRPr lang="en-US" altLang="zh-CN" sz="2400" b="1" dirty="0">
              <a:solidFill>
                <a:srgbClr val="006666"/>
              </a:solidFill>
              <a:effectLst/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属性按照声明方式可以分为两类：类属性和实例属性。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effectLst/>
                <a:latin typeface="Arial"/>
                <a:ea typeface="宋体"/>
                <a:cs typeface="+mj-cs"/>
              </a:rPr>
              <a:t>1.</a:t>
            </a:r>
            <a:r>
              <a:rPr lang="zh-CN" altLang="en-US" sz="2400" b="1" dirty="0">
                <a:solidFill>
                  <a:srgbClr val="006666"/>
                </a:solidFill>
                <a:effectLst/>
                <a:latin typeface="Arial"/>
                <a:ea typeface="宋体"/>
                <a:cs typeface="+mj-cs"/>
              </a:rPr>
              <a:t>类属性（类属性</a:t>
            </a:r>
            <a:r>
              <a:rPr lang="en-US" altLang="zh-CN" sz="2400" b="1" dirty="0">
                <a:solidFill>
                  <a:srgbClr val="006666"/>
                </a:solidFill>
                <a:effectLst/>
                <a:latin typeface="Arial"/>
                <a:ea typeface="宋体"/>
                <a:cs typeface="+mj-cs"/>
              </a:rPr>
              <a:t>.</a:t>
            </a:r>
            <a:r>
              <a:rPr lang="en-US" altLang="zh-CN" sz="2400" b="1" dirty="0" err="1">
                <a:solidFill>
                  <a:srgbClr val="006666"/>
                </a:solidFill>
                <a:effectLst/>
                <a:latin typeface="Arial"/>
                <a:ea typeface="宋体"/>
                <a:cs typeface="+mj-cs"/>
              </a:rPr>
              <a:t>py</a:t>
            </a:r>
            <a:r>
              <a:rPr lang="zh-CN" altLang="en-US" sz="2400" b="1" dirty="0">
                <a:solidFill>
                  <a:srgbClr val="006666"/>
                </a:solidFill>
                <a:effectLst/>
                <a:latin typeface="Arial"/>
                <a:ea typeface="宋体"/>
                <a:cs typeface="+mj-cs"/>
              </a:rPr>
              <a:t>）</a:t>
            </a:r>
            <a:endParaRPr lang="en-US" altLang="zh-CN" sz="2400" b="1" dirty="0">
              <a:solidFill>
                <a:srgbClr val="006666"/>
              </a:solidFill>
              <a:effectLst/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类属性声明在类的内部，方法外部的属性，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类属性可以通过类或对象进行访问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类属性只能通过类进行修改</a:t>
            </a:r>
          </a:p>
          <a:p>
            <a:pPr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2094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77D643-062B-0A4B-1FFB-BB9FDF89C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类的成员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F09A30-9EE5-D93A-D198-20A29AFEE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2329544"/>
            <a:ext cx="10980057" cy="4332513"/>
          </a:xfrm>
        </p:spPr>
        <p:txBody>
          <a:bodyPr/>
          <a:lstStyle/>
          <a:p>
            <a:pPr>
              <a:buNone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wheels=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 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类属性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drive(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行驶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car=Car()    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创建对象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Car.wheels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通过类访问类属性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car.wheels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通过对象访问类属性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Car.wheels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  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通过类修改类属性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Car.wheels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通过类访问类属性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car.wheels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通过对象访问类属性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car.wheels=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  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添加一个与类属性同名的实例属性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(Car.wheels)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通过类访问类属性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(car.wheels)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通过对象访问类属性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lang="en-US" altLang="zh-CN" sz="2000" b="1" dirty="0">
              <a:solidFill>
                <a:srgbClr val="006666"/>
              </a:solidFill>
              <a:latin typeface="Arial"/>
              <a:ea typeface="宋体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122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15E82-4ABC-BAED-7E73-1C703ECC9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6666"/>
                </a:solidFill>
              </a:rPr>
              <a:t>8.3 </a:t>
            </a:r>
            <a:r>
              <a:rPr lang="zh-CN" altLang="en-US" dirty="0">
                <a:solidFill>
                  <a:srgbClr val="006666"/>
                </a:solidFill>
              </a:rPr>
              <a:t>类的成员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22B3C-36E8-B005-F667-D22C7677A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258" y="2362201"/>
            <a:ext cx="10257367" cy="4495799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实例属性（访问实例属性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4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py</a:t>
            </a: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b="1" dirty="0">
              <a:solidFill>
                <a:srgbClr val="008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实例属性是在方法内部声明的属性</a:t>
            </a: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Python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支持动态添加实例属性</a:t>
            </a: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实例</a:t>
            </a: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属性只能通过对象访问，不能通过类访问实例属性。</a:t>
            </a: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）访问实例属性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drive(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.wheels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添加实例属性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car=Car() 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创建对象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car.drive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car.wheels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通过对象访问实例属性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print(</a:t>
            </a:r>
            <a:r>
              <a:rPr lang="en-US" altLang="zh-CN" sz="20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Car.wheels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# 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不能通过类访问实例属性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/>
          </a:p>
          <a:p>
            <a:pPr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12587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F59160-4AAF-233B-AD1F-09885D77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类的成员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CFBC37-40DD-4E26-1C0A-0BEF37EB2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824028" cy="4419599"/>
          </a:xfrm>
        </p:spPr>
        <p:txBody>
          <a:bodyPr/>
          <a:lstStyle/>
          <a:p>
            <a:pPr lvl="0">
              <a:buClr>
                <a:srgbClr val="003366"/>
              </a:buClr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）修改</a:t>
            </a:r>
            <a:r>
              <a:rPr lang="zh-CN" altLang="en-US" sz="2400" dirty="0">
                <a:solidFill>
                  <a:srgbClr val="003366"/>
                </a:solidFill>
              </a:rPr>
              <a:t>实例属性（修改实例属性</a:t>
            </a:r>
            <a:r>
              <a:rPr lang="en-US" altLang="zh-CN" sz="2400" dirty="0">
                <a:solidFill>
                  <a:srgbClr val="003366"/>
                </a:solidFill>
              </a:rPr>
              <a:t>.</a:t>
            </a:r>
            <a:r>
              <a:rPr lang="en-US" altLang="zh-CN" sz="2400" dirty="0" err="1">
                <a:solidFill>
                  <a:srgbClr val="003366"/>
                </a:solidFill>
              </a:rPr>
              <a:t>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drive(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.wheels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添加实例属性</a:t>
            </a:r>
            <a:endParaRPr lang="en-US" altLang="zh-CN" sz="2000" i="1" dirty="0">
              <a:solidFill>
                <a:srgbClr val="808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car=Car() 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创建对象</a:t>
            </a:r>
            <a:endParaRPr lang="en-US" altLang="zh-CN" sz="2000" i="1" dirty="0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car.drive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car.wheels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通过对象修改实例属性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car.wheels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通过对象访问实例属性</a:t>
            </a: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buClr>
                <a:srgbClr val="003366"/>
              </a:buClr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9305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AE5A71-258A-A328-3D44-AAE36F8A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类的成员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33D5AA-0A0D-A964-E2B0-2D79FD24A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343" y="2362201"/>
            <a:ext cx="10896600" cy="4495799"/>
          </a:xfrm>
        </p:spPr>
        <p:txBody>
          <a:bodyPr/>
          <a:lstStyle/>
          <a:p>
            <a:pPr>
              <a:buNone/>
            </a:pP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）动态添加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实例属性（动态添加实例属性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class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Car: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drive(</a:t>
            </a:r>
            <a:r>
              <a:rPr lang="en-US" altLang="zh-CN" sz="24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4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.wheels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  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添加实例属性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car=Car()    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创建对象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car.drive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car.wheels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 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通过对象修改实例属性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b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car.wheels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通过对象访问实例属性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car.color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红色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 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动态添加实例属性 红色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car.color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>
              <a:buNone/>
            </a:pP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88618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01FE7-A23A-3192-9DF7-FD04628E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类的成员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89B4E-A412-CE04-F22A-DB50D719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878456" cy="4495799"/>
          </a:xfrm>
        </p:spPr>
        <p:txBody>
          <a:bodyPr/>
          <a:lstStyle/>
          <a:p>
            <a:pPr>
              <a:buNone/>
            </a:pP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8.3.2 </a:t>
            </a:r>
            <a:r>
              <a:rPr lang="zh-CN" altLang="en-US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方法</a:t>
            </a:r>
            <a:endParaRPr lang="en-US" altLang="zh-CN" sz="2400" b="1" dirty="0">
              <a:solidFill>
                <a:srgbClr val="000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实例方法（实例方法</a:t>
            </a:r>
            <a:r>
              <a:rPr lang="en-US" altLang="zh-CN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400" b="1" dirty="0" err="1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</a:t>
            </a: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b="1" dirty="0">
              <a:solidFill>
                <a:srgbClr val="000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实例方法定义在类内部 以</a:t>
            </a:r>
            <a:r>
              <a:rPr lang="en-US" altLang="zh-CN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（代表对象本身）为第一个形参，只能通过对</a:t>
            </a:r>
            <a:endParaRPr lang="en-US" altLang="zh-CN" sz="2400" b="1" dirty="0">
              <a:solidFill>
                <a:srgbClr val="000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象调用。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drive(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      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实例方法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我是实例方法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car=Car()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car.drive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Car.drive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 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不能通过类调用实例方法</a:t>
            </a: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2794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0F080-DA34-0F8F-DB0A-F143AABE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类的成员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A74FA1-E355-D18F-4BFA-7654D774B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900228" cy="4386942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类方法（类方法</a:t>
            </a:r>
            <a:r>
              <a:rPr lang="en-US" altLang="zh-CN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1.py  </a:t>
            </a: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类方法</a:t>
            </a:r>
            <a:r>
              <a:rPr lang="en-US" altLang="zh-CN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2.py</a:t>
            </a: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b="1" dirty="0">
              <a:solidFill>
                <a:srgbClr val="000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类方法定义在类的内部，使用装饰器</a:t>
            </a:r>
            <a:r>
              <a:rPr lang="en-US" altLang="zh-CN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@classmethod</a:t>
            </a: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修饰，类方法中参数列表</a:t>
            </a:r>
            <a:endParaRPr lang="en-US" altLang="zh-CN" sz="2400" b="1" dirty="0">
              <a:solidFill>
                <a:srgbClr val="000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的第一个参数为</a:t>
            </a:r>
            <a:r>
              <a:rPr lang="en-US" altLang="zh-CN" sz="2400" b="1" dirty="0" err="1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cls</a:t>
            </a:r>
            <a:r>
              <a:rPr lang="en-US" altLang="zh-CN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代表类本身，它会在类方法被（对象或类）调用自动接</a:t>
            </a:r>
            <a:endParaRPr lang="en-US" altLang="zh-CN" sz="2400" b="1" dirty="0">
              <a:solidFill>
                <a:srgbClr val="000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收由系统传递的调用该方法的类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@</a:t>
            </a:r>
            <a:r>
              <a:rPr lang="en-US" altLang="zh-CN" sz="2000" dirty="0">
                <a:solidFill>
                  <a:srgbClr val="00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classmethod</a:t>
            </a:r>
            <a:br>
              <a:rPr lang="en-US" altLang="zh-CN" sz="2000" dirty="0">
                <a:solidFill>
                  <a:srgbClr val="00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stop(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我是类方法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类方法调用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Car.stop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通过类调用类方法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car=Car()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创建对象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car.stop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通过对象调用类方法</a:t>
            </a: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82255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4800B-BB38-7C3F-64C1-93F004AF5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类的成员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5B1CA2-94A2-9654-90D0-FBF4F9800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921999" cy="4321628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类方法中可以使用</a:t>
            </a:r>
            <a:r>
              <a:rPr lang="en-US" altLang="zh-CN" sz="2400" b="1" dirty="0" err="1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cls</a:t>
            </a: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访问和修改类属性的值</a:t>
            </a:r>
            <a:b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wheels=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类属性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@</a:t>
            </a:r>
            <a:r>
              <a:rPr lang="en-US" altLang="zh-CN" sz="2000" dirty="0">
                <a:solidFill>
                  <a:srgbClr val="00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classmethod</a:t>
            </a:r>
            <a:br>
              <a:rPr lang="en-US" altLang="zh-CN" sz="2000" dirty="0">
                <a:solidFill>
                  <a:srgbClr val="00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stop(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cls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.wheels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cls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访问类属性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cls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.wheels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  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cls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修改类属性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cls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.wheels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car=Car()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car.stop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>
              <a:buNone/>
            </a:pP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结果：</a:t>
            </a: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 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</a:p>
          <a:p>
            <a:pPr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8438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B312EE-109C-7A89-9ED6-AB87011B2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类的成员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CB6491-A34C-CB8A-168B-B98989FF7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2318656"/>
            <a:ext cx="10990943" cy="4539343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静态方法（静态方法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1.py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静态方法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2.py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静态方法是定义在类的内部，使用装饰器</a:t>
            </a:r>
            <a:r>
              <a:rPr lang="en-US" altLang="zh-CN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@staticmethod</a:t>
            </a: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修饰的方法。</a:t>
            </a:r>
            <a:endParaRPr lang="en-US" altLang="zh-CN" sz="2400" b="1" dirty="0">
              <a:solidFill>
                <a:srgbClr val="000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静态方法没有任何默认参数，适用与与类无关的操作。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静态方法可以通过类和对象调用。</a:t>
            </a:r>
            <a:b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en-US" altLang="zh-CN" sz="2400" b="1" dirty="0">
              <a:solidFill>
                <a:srgbClr val="000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@</a:t>
            </a:r>
            <a:r>
              <a:rPr lang="en-US" altLang="zh-CN" sz="2000" dirty="0">
                <a:solidFill>
                  <a:srgbClr val="00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staticmethod</a:t>
            </a:r>
            <a:br>
              <a:rPr lang="en-US" altLang="zh-CN" sz="2000" dirty="0">
                <a:solidFill>
                  <a:srgbClr val="00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test():            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静态方法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我是静态方法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Car.test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                 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通过类读调用静态方法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car=Car()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car.test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                 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通过对象读调用静态方法</a:t>
            </a: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br>
              <a:rPr lang="zh-CN" altLang="en-US" sz="20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zh-CN" altLang="en-US" sz="2000" b="1" dirty="0">
              <a:solidFill>
                <a:srgbClr val="000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7757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59B87-A099-EE94-5319-05EBD3FF8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类的成员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A29E83-D526-0D23-CF6F-ED392930F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769599" cy="4332513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静态方法内部不能直接访问属性和方法</a:t>
            </a:r>
            <a:endParaRPr lang="en-US" altLang="zh-CN" sz="2400" b="1" dirty="0">
              <a:solidFill>
                <a:srgbClr val="000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静态方法内部可以使用类名访问类属性或调用类方法</a:t>
            </a:r>
            <a:br>
              <a:rPr lang="zh-CN" altLang="en-US" i="1" dirty="0"/>
            </a:br>
            <a:r>
              <a:rPr lang="en-US" altLang="zh-CN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class Car:</a:t>
            </a:r>
            <a:br>
              <a:rPr lang="en-US" altLang="zh-CN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wheels=3        # </a:t>
            </a:r>
            <a:r>
              <a:rPr lang="zh-CN" altLang="en-US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类属性</a:t>
            </a:r>
            <a:br>
              <a:rPr lang="zh-CN" altLang="en-US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@staticmethod</a:t>
            </a:r>
            <a:br>
              <a:rPr lang="en-US" altLang="zh-CN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def test():     # </a:t>
            </a:r>
            <a:r>
              <a:rPr lang="zh-CN" altLang="en-US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静态方法</a:t>
            </a:r>
            <a:br>
              <a:rPr lang="zh-CN" altLang="en-US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print("</a:t>
            </a:r>
            <a:r>
              <a:rPr lang="zh-CN" altLang="en-US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我是静态方法</a:t>
            </a:r>
            <a:r>
              <a:rPr lang="en-US" altLang="zh-CN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</a:t>
            </a:r>
            <a:br>
              <a:rPr lang="en-US" altLang="zh-CN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print(f"</a:t>
            </a:r>
            <a:r>
              <a:rPr lang="zh-CN" altLang="en-US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类属性的值为</a:t>
            </a:r>
            <a:r>
              <a:rPr lang="en-US" altLang="zh-CN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en-US" altLang="zh-CN" sz="2000" dirty="0" err="1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Car.wheels</a:t>
            </a:r>
            <a:r>
              <a:rPr lang="en-US" altLang="zh-CN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}") #</a:t>
            </a:r>
            <a:r>
              <a:rPr lang="zh-CN" altLang="en-US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格式化输出 静态方法中访问类属性</a:t>
            </a:r>
            <a:br>
              <a:rPr lang="zh-CN" altLang="en-US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car=Car()</a:t>
            </a:r>
            <a:br>
              <a:rPr lang="en-US" altLang="zh-CN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car.test</a:t>
            </a:r>
            <a:r>
              <a:rPr lang="en-US" altLang="zh-CN" sz="2000" dirty="0">
                <a:solidFill>
                  <a:srgbClr val="0000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zh-CN" altLang="en-US" sz="2000" dirty="0"/>
              <a:t>结果：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我是静态方法</a:t>
            </a:r>
          </a:p>
          <a:p>
            <a:pPr marL="0" indent="0">
              <a:buNone/>
            </a:pPr>
            <a:r>
              <a:rPr lang="zh-CN" altLang="en-US" sz="2000" dirty="0"/>
              <a:t>类属性的值为</a:t>
            </a:r>
            <a:r>
              <a:rPr lang="en-US" altLang="zh-CN" sz="2000" dirty="0"/>
              <a:t>3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16447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D8CB04-E567-A4CA-F4A2-86FC7278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类的成员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E724D7-4C6D-5EEC-A74D-2C8851256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658" y="2275114"/>
            <a:ext cx="10921999" cy="4463143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8.3.3 </a:t>
            </a:r>
            <a:r>
              <a:rPr lang="zh-CN" altLang="en-US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私有成员</a:t>
            </a:r>
            <a:endParaRPr lang="en-US" altLang="zh-CN" sz="2400" b="1" dirty="0">
              <a:solidFill>
                <a:srgbClr val="000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20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通过在类成员的名称前面加双下划线的方式来表示私有成员，在外部不能</a:t>
            </a:r>
            <a:endParaRPr lang="en-US" altLang="zh-CN" sz="2000" b="1" dirty="0">
              <a:solidFill>
                <a:srgbClr val="000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0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访问，</a:t>
            </a:r>
            <a:r>
              <a:rPr lang="en-US" altLang="zh-CN" sz="20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Python</a:t>
            </a:r>
            <a:r>
              <a:rPr lang="zh-CN" altLang="en-US" sz="20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的私有成员 可以通过调用类内部的公有方法访问。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__wheels=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私有属性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__drive(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行驶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私有方法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(f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轿车有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en-US" altLang="zh-CN" sz="20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self.__wheels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个车轮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类的公有方法中访问类的私有属性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.__drive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类的公有方法中访问类的私有方法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car=Car()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print(</a:t>
            </a:r>
            <a:r>
              <a:rPr lang="en-US" altLang="zh-CN" sz="20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car.__wheels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类外部不能访问私有属性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car.__drive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 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类外部不能调用私有方法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car.test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>
              <a:buNone/>
            </a:pP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6890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135BD-BF74-1680-6943-C5FF2E65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6666"/>
                </a:solidFill>
              </a:rPr>
              <a:t>8.4 </a:t>
            </a:r>
            <a:r>
              <a:rPr lang="zh-CN" altLang="en-US" dirty="0">
                <a:solidFill>
                  <a:srgbClr val="006666"/>
                </a:solidFill>
              </a:rPr>
              <a:t>特殊方法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D2C25E-6C07-F89A-8EBC-C8CBFAD15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954656" cy="4332513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8.4.1 </a:t>
            </a:r>
            <a:r>
              <a:rPr lang="zh-CN" altLang="en-US" sz="2400" dirty="0"/>
              <a:t>构造方法 </a:t>
            </a:r>
            <a:r>
              <a:rPr lang="en-US" altLang="zh-CN" sz="2400" dirty="0"/>
              <a:t> </a:t>
            </a:r>
          </a:p>
          <a:p>
            <a:pPr>
              <a:buNone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构造方法 </a:t>
            </a:r>
            <a:r>
              <a:rPr lang="en-US" altLang="zh-CN" sz="2400" dirty="0"/>
              <a:t>__</a:t>
            </a:r>
            <a:r>
              <a:rPr lang="en-US" altLang="zh-CN" sz="2400" dirty="0" err="1"/>
              <a:t>init</a:t>
            </a:r>
            <a:r>
              <a:rPr lang="en-US" altLang="zh-CN" sz="2400" dirty="0"/>
              <a:t>__()</a:t>
            </a:r>
            <a:r>
              <a:rPr lang="zh-CN" altLang="en-US" sz="2400" dirty="0"/>
              <a:t>方法</a:t>
            </a:r>
            <a:r>
              <a:rPr lang="en-US" altLang="zh-CN" sz="2400" dirty="0"/>
              <a:t>, </a:t>
            </a:r>
            <a:r>
              <a:rPr lang="zh-CN" altLang="en-US" sz="2400" dirty="0"/>
              <a:t>是系统内置方法，是类中定义的特殊方法，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dirty="0"/>
              <a:t>作用：构造方法在创建对象时负责对对象进行初始化</a:t>
            </a:r>
            <a:endParaRPr lang="en-US" altLang="zh-CN" sz="2400" i="1" dirty="0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1.</a:t>
            </a:r>
            <a:r>
              <a:rPr lang="zh-CN" altLang="en-US" sz="2400" dirty="0"/>
              <a:t>无参的构造方法（无参的构造方法</a:t>
            </a:r>
            <a:r>
              <a:rPr lang="en-US" altLang="zh-CN" sz="2400" dirty="0"/>
              <a:t>.</a:t>
            </a:r>
            <a:r>
              <a:rPr lang="en-US" altLang="zh-CN" sz="2400" dirty="0" err="1"/>
              <a:t>py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每一个类都有一个默认的构造方法</a:t>
            </a:r>
            <a:r>
              <a:rPr lang="en-US" altLang="zh-CN" sz="2400" dirty="0"/>
              <a:t>__int__()</a:t>
            </a:r>
            <a:r>
              <a:rPr lang="zh-CN" altLang="en-US" sz="2400" dirty="0"/>
              <a:t>，当使用无参的构造方法创建对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象时，所有的属性都有相同的属性值。</a:t>
            </a:r>
          </a:p>
          <a:p>
            <a:pPr>
              <a:buNone/>
            </a:pP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1461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E79E3-1687-1083-EF5E-22112C4FF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8.4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特殊方法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D3BB7C-93ED-8483-4FD4-F1BE7A817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2264229"/>
            <a:ext cx="10845799" cy="44957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调用无参的构造方法创建和使用对象</a:t>
            </a:r>
            <a:endParaRPr lang="en-US" altLang="zh-CN" sz="2400" dirty="0"/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2000" dirty="0" err="1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init</a:t>
            </a:r>
            <a:r>
              <a:rPr lang="en-US" altLang="zh-CN" sz="2000" dirty="0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定义无参的构造方法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.color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红色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b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drive(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(f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车的颜色为：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en-US" altLang="zh-CN" sz="20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self.color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}"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car_one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 Car()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创建对象并调用</a:t>
            </a:r>
            <a:r>
              <a:rPr kumimoji="0" lang="zh-CN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无参的构造方法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初始化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car_one.drive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car_two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 Car()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创建对象并调用</a:t>
            </a:r>
            <a:r>
              <a:rPr kumimoji="0" lang="zh-CN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无参的构造方法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初始化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car_two.drive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>
              <a:buNone/>
            </a:pPr>
            <a:endParaRPr lang="en-US" altLang="zh-CN" sz="2400" dirty="0"/>
          </a:p>
          <a:p>
            <a:pPr>
              <a:buNone/>
            </a:pPr>
            <a:endParaRPr lang="zh-CN" altLang="en-US" sz="2000" dirty="0"/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39729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688BB4-6D76-9FF0-4402-67189561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8.4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特殊方法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9ED77-3AAD-A782-14E6-5E3EB1C10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976428" cy="4408713"/>
          </a:xfrm>
        </p:spPr>
        <p:txBody>
          <a:bodyPr/>
          <a:lstStyle/>
          <a:p>
            <a:pPr>
              <a:buNone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有参的构造方法（有参的构造方法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当使用有参的构造方法创建对象时，所有的属性可以有不同的属性值。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2000" dirty="0" err="1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init</a:t>
            </a:r>
            <a:r>
              <a:rPr lang="en-US" altLang="zh-CN" sz="2000" dirty="0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,color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定义有参的构造方法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.color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=color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drive(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(f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车的颜色为：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en-US" altLang="zh-CN" sz="20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self.color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}”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car_one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 Car(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红色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创建对象并初始化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car_one.drive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car_two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 Car(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蓝色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创建对象并初始化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car_two.drive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结果：车的颜色为：红色</a:t>
            </a:r>
          </a:p>
          <a:p>
            <a:pPr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车的颜色为：蓝色</a:t>
            </a: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>
              <a:buNone/>
            </a:pPr>
            <a:b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1934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8C51F-FA87-96DC-D3C3-DF6D21367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8.4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特殊方法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AFAF38-4C22-1AF5-B052-0CC5B3C08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889342" cy="434339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8.4.2 </a:t>
            </a:r>
            <a:r>
              <a:rPr lang="zh-CN" altLang="en-US" sz="2400" dirty="0"/>
              <a:t>析构方法（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析构方法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析构方法 （ </a:t>
            </a:r>
            <a:r>
              <a:rPr lang="en-US" altLang="zh-CN" sz="2400" dirty="0"/>
              <a:t> __del__()  </a:t>
            </a:r>
            <a:r>
              <a:rPr lang="zh-CN" altLang="en-US" sz="2400" dirty="0"/>
              <a:t>方法）是系统内置方法，在销毁对象时系统自动调用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的特殊方法，每个类默认都有一个析构方法，销毁该类对象时会默认调用。</a:t>
            </a:r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15437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D6992-E49E-98C8-A1E4-6798282CE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8.4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特殊方法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75E5BE-6933-CF68-BBFC-C5A17C84F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845799" cy="4332513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析构方法调用</a:t>
            </a:r>
            <a:endParaRPr lang="en-US" altLang="zh-CN" sz="2400" b="1" dirty="0">
              <a:solidFill>
                <a:srgbClr val="000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2000" dirty="0" err="1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init</a:t>
            </a:r>
            <a:r>
              <a:rPr lang="en-US" altLang="zh-CN" sz="2000" dirty="0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定义无参的构造方法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.color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蓝色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b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对象被创建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__del__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定义析构方法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对象被销毁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car= Car()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创建对象并初始化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car.color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del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删除对象的引用 </a:t>
            </a:r>
            <a:r>
              <a:rPr lang="zh-CN" altLang="en-US" sz="2000" i="1" dirty="0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析构方法被调用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print(</a:t>
            </a:r>
            <a:r>
              <a:rPr lang="en-US" altLang="zh-CN" sz="20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car.color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 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出错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对象已经销毁</a:t>
            </a: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0706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0E4F3-2B63-2F50-2EDD-55DA6817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8.6 </a:t>
            </a:r>
            <a:r>
              <a:rPr lang="zh-CN" altLang="en-US" dirty="0"/>
              <a:t>封装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55C96-5326-5034-98AE-B84FA0B10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2307772"/>
            <a:ext cx="10715170" cy="4365170"/>
          </a:xfrm>
        </p:spPr>
        <p:txBody>
          <a:bodyPr/>
          <a:lstStyle/>
          <a:p>
            <a:pPr>
              <a:buNone/>
            </a:pPr>
            <a:r>
              <a:rPr lang="zh-CN" altLang="en-US" sz="2400" dirty="0"/>
              <a:t>封装的基本思想是对外隐藏类的细节，提供用于访问类成员的公开接口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要求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1.</a:t>
            </a:r>
            <a:r>
              <a:rPr lang="zh-CN" altLang="en-US" sz="2400" dirty="0"/>
              <a:t>将属性声明为私有属性。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2.</a:t>
            </a:r>
            <a:r>
              <a:rPr lang="zh-CN" altLang="en-US" sz="2400" dirty="0"/>
              <a:t>提供两个供外界调用的公有方法，分别用于设置和获取私有属性的值。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3. </a:t>
            </a:r>
            <a:r>
              <a:rPr lang="zh-CN" altLang="en-US" sz="2400" dirty="0"/>
              <a:t>程序只能通过类提供的公有方法访问私有属性，这即保证了类属性的安全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性，又避免了直接给属性赋值造成数据的混乱。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15296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B4E16-2A0A-B2AC-8BE5-091C4908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8.6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封装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F87DE-5F20-7B35-5FC9-E2CA2D35B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29543"/>
            <a:ext cx="10911113" cy="4376057"/>
          </a:xfrm>
        </p:spPr>
        <p:txBody>
          <a:bodyPr/>
          <a:lstStyle/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Person: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2000" dirty="0" err="1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init</a:t>
            </a:r>
            <a:r>
              <a:rPr lang="en-US" altLang="zh-CN" sz="2000" dirty="0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.__age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私有属性 ，默认为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岁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设置私有属性值的方法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set_age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,age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&lt;age&lt;=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120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.__age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=age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获取私有属性值的方法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get_age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return 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.__age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person=Person()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person.set_age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print (</a:t>
            </a:r>
            <a:r>
              <a:rPr lang="en-US" altLang="zh-CN" sz="20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person.__age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 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对象不能直接访问其私有属性</a:t>
            </a: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(f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年龄为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en-US" altLang="zh-CN" sz="20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person.get_age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()}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岁 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年龄为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岁</a:t>
            </a: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5715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16A81C-BFBD-5D3B-9208-A83D734A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8.7 </a:t>
            </a:r>
            <a:r>
              <a:rPr lang="zh-CN" altLang="en-US" dirty="0"/>
              <a:t>继承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D91C39-D99D-8664-76CF-8BB9C2B39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802256" cy="432162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8.7.1 </a:t>
            </a:r>
            <a:r>
              <a:rPr lang="zh-CN" altLang="en-US" sz="2400" dirty="0"/>
              <a:t>单继承（单一继承</a:t>
            </a:r>
            <a:r>
              <a:rPr lang="en-US" altLang="zh-CN" sz="2400" dirty="0"/>
              <a:t>1. </a:t>
            </a:r>
            <a:r>
              <a:rPr lang="en-US" altLang="zh-CN" sz="2400" dirty="0" err="1"/>
              <a:t>py</a:t>
            </a:r>
            <a:r>
              <a:rPr lang="en-US" altLang="zh-CN" sz="2400" dirty="0"/>
              <a:t>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单一继承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2.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py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单继承 即子类只继承一个父类 语法如下：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class </a:t>
            </a:r>
            <a:r>
              <a:rPr lang="zh-CN" altLang="en-US" sz="2400" dirty="0"/>
              <a:t>子类名（父类名）：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子类继承父类的同时会自动拥有父类的公有成员。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若定义类时不指明该类的父类，那么该类默认继承父类为 </a:t>
            </a:r>
            <a:r>
              <a:rPr lang="en-US" altLang="zh-CN" sz="2400" dirty="0"/>
              <a:t>object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52114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74971-726B-BFEA-CADF-86666BA23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8.7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继承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F89A74-9F49-3B17-D75F-A5E3A6827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310742"/>
          </a:xfrm>
        </p:spPr>
        <p:txBody>
          <a:bodyPr/>
          <a:lstStyle/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Cat():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定义父类 默认继承基类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object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相当于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Cat(object)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2000" dirty="0" err="1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init</a:t>
            </a:r>
            <a:r>
              <a:rPr lang="en-US" altLang="zh-CN" sz="2000" dirty="0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,color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.color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=color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walk(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走猫步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scottishFold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(Cat):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定义子类（折耳猫）继承父类（猫）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pass</a:t>
            </a:r>
            <a:b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flod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scottishFold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灰色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创建子类对象 调用父类的构造方法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20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init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__(</a:t>
            </a:r>
            <a:r>
              <a:rPr lang="en-US" altLang="zh-CN" sz="20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self,color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(f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"{</a:t>
            </a:r>
            <a:r>
              <a:rPr lang="en-US" altLang="zh-CN" sz="20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flod.color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的折耳猫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子类访问从父类继承的属性 灰色的折耳猫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flod.walk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子类访问从父类继承的方法 走猫步</a:t>
            </a: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5550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1A477-D054-43A2-CBBB-B864BAE99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8.7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继承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62E6D7-BD16-6A4C-9E93-F3BBB36DD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791370" cy="4256313"/>
          </a:xfrm>
        </p:spPr>
        <p:txBody>
          <a:bodyPr/>
          <a:lstStyle/>
          <a:p>
            <a:pPr>
              <a:buNone/>
            </a:pPr>
            <a:r>
              <a:rPr lang="zh-CN" altLang="en-US" sz="2400" dirty="0"/>
              <a:t>运行说明：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1.</a:t>
            </a:r>
            <a:r>
              <a:rPr lang="zh-CN" altLang="en-US" sz="2400" dirty="0"/>
              <a:t>创建子类对象 要调用有参的构造方法 现从子类找如果没有找到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在从父类找增加子类对象属性 并附初值。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2.</a:t>
            </a:r>
            <a:r>
              <a:rPr lang="zh-CN" altLang="en-US" sz="2400" dirty="0"/>
              <a:t>在执行子类对象的</a:t>
            </a:r>
            <a:r>
              <a:rPr lang="en-US" altLang="zh-CN" sz="2400" dirty="0"/>
              <a:t>walk()</a:t>
            </a:r>
            <a:r>
              <a:rPr lang="zh-CN" altLang="en-US" sz="2400" dirty="0"/>
              <a:t>方法时，若当前子类对象没有就去子类 类对象找 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如没有就去父类 类对象找</a:t>
            </a:r>
            <a:br>
              <a:rPr lang="zh-CN" altLang="en-US" sz="2400" dirty="0"/>
            </a:br>
            <a:endParaRPr lang="zh-CN" altLang="en-US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72139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93784-372B-967D-FEAF-F27B7934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8.7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继承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70D1E7-5E78-D017-2AE3-362D7F66A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715170" cy="4321628"/>
          </a:xfrm>
        </p:spPr>
        <p:txBody>
          <a:bodyPr/>
          <a:lstStyle/>
          <a:p>
            <a:pPr>
              <a:buNone/>
            </a:pPr>
            <a:r>
              <a:rPr lang="zh-CN" altLang="en-US" sz="2400" dirty="0"/>
              <a:t>子类不会继承父类的私有成员，也不能访问父类的私有成员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Cat: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定义父类 默认继承基类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object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相当于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Cat(object)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2000" dirty="0" err="1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init</a:t>
            </a:r>
            <a:r>
              <a:rPr lang="en-US" altLang="zh-CN" sz="2000" dirty="0">
                <a:solidFill>
                  <a:srgbClr val="B200B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,color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.color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=color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.__age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  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私有属性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__test(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 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私有方法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父类的私有方法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walk(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走猫步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scottishFold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(Cat):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定义子类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pass</a:t>
            </a:r>
            <a:b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flod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scottishFold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灰色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print(</a:t>
            </a:r>
            <a:r>
              <a:rPr lang="en-US" altLang="zh-CN" sz="20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flod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.__age)#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子类不能访问父类的私有属性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flod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.__test() 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子类不能方法父类的私有方法</a:t>
            </a: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09434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39B9F-706B-3F74-AA6D-F0C0FC79A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8.7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继承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4E83AF-7219-023E-18CD-32C22144D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802256" cy="437605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8.7.2 </a:t>
            </a:r>
            <a:r>
              <a:rPr lang="zh-CN" altLang="en-US" sz="2400" dirty="0"/>
              <a:t>多继承（多继承</a:t>
            </a:r>
            <a:r>
              <a:rPr lang="en-US" altLang="zh-CN" sz="2400" dirty="0"/>
              <a:t>1.py  </a:t>
            </a:r>
            <a:r>
              <a:rPr lang="zh-CN" altLang="en-US" sz="2400" dirty="0"/>
              <a:t>多继承</a:t>
            </a:r>
            <a:r>
              <a:rPr lang="en-US" altLang="zh-CN" sz="2400" dirty="0"/>
              <a:t>2.py 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Python</a:t>
            </a:r>
            <a:r>
              <a:rPr lang="zh-CN" altLang="en-US" sz="2400" dirty="0"/>
              <a:t>中一个子类可以继承多个父类，也自动拥有所有父类的公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有成员。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如果子类继承多个父类的相同方法，那么子类先继承哪个类，便会先调用哪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个类的方法。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707611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34E596-4C65-56C7-FA91-823A695ED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8.7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继承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7ABF01-D79E-11B0-411D-D6C7BA5B1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419599"/>
          </a:xfrm>
        </p:spPr>
        <p:txBody>
          <a:bodyPr/>
          <a:lstStyle/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House: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live(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供人居住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drive(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行驶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定义一个表示房车的类，继承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House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类和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Cat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TouringCar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House,Car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pass</a:t>
            </a:r>
            <a:b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b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tour_car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TouringCar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创建房车对象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tour_car.live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调用父类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House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的方法 供人居住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tour_car.drive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调用父类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的方法 行驶</a:t>
            </a: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93131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D24B14-411B-1AE3-6408-837E90D66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8.7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继承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043240-371B-9729-5EBA-966DC6E17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209799"/>
            <a:ext cx="10649856" cy="4572001"/>
          </a:xfrm>
        </p:spPr>
        <p:txBody>
          <a:bodyPr/>
          <a:lstStyle/>
          <a:p>
            <a:pPr>
              <a:buNone/>
            </a:pPr>
            <a:r>
              <a:rPr lang="en-US" altLang="zh-CN" sz="16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class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House():</a:t>
            </a:r>
            <a:b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live(</a:t>
            </a:r>
            <a:r>
              <a:rPr lang="en-US" altLang="zh-CN" sz="16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16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供人居住</a:t>
            </a:r>
            <a:r>
              <a:rPr lang="en-US" altLang="zh-CN" sz="16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test(</a:t>
            </a:r>
            <a:r>
              <a:rPr lang="en-US" altLang="zh-CN" sz="16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"House</a:t>
            </a:r>
            <a:r>
              <a:rPr lang="zh-CN" altLang="en-US" sz="16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类测试</a:t>
            </a:r>
            <a:r>
              <a:rPr lang="en-US" altLang="zh-CN" sz="16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Car():</a:t>
            </a:r>
            <a:b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drive(</a:t>
            </a:r>
            <a:r>
              <a:rPr lang="en-US" altLang="zh-CN" sz="16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16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行驶</a:t>
            </a:r>
            <a:r>
              <a:rPr lang="en-US" altLang="zh-CN" sz="16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test(</a:t>
            </a:r>
            <a:r>
              <a:rPr lang="en-US" altLang="zh-CN" sz="16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"Car</a:t>
            </a:r>
            <a:r>
              <a:rPr lang="zh-CN" altLang="en-US" sz="16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类测试</a:t>
            </a:r>
            <a:r>
              <a:rPr lang="en-US" altLang="zh-CN" sz="16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定义一个表示房车的类，继承</a:t>
            </a:r>
            <a:r>
              <a:rPr lang="en-US" altLang="zh-CN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House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类和</a:t>
            </a:r>
            <a:r>
              <a:rPr lang="en-US" altLang="zh-CN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Cat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TouringCar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House,Car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pass</a:t>
            </a:r>
            <a:br>
              <a:rPr lang="en-US" altLang="zh-CN" sz="16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tour_car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TouringCar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en-US" altLang="zh-CN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创建房车对象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tour_car.live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r>
              <a:rPr lang="en-US" altLang="zh-CN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调用父类</a:t>
            </a:r>
            <a:r>
              <a:rPr lang="en-US" altLang="zh-CN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House 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的方法 供人居住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tour_car.drive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en-US" altLang="zh-CN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调用父类</a:t>
            </a:r>
            <a:r>
              <a:rPr lang="en-US" altLang="zh-CN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Car 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的方法 行驶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子类调用了先继承的</a:t>
            </a:r>
            <a:r>
              <a:rPr lang="en-US" altLang="zh-CN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House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类的</a:t>
            </a:r>
            <a:r>
              <a:rPr lang="en-US" altLang="zh-CN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（）方法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6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tour_car.test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r>
              <a:rPr lang="en-US" altLang="zh-CN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House</a:t>
            </a:r>
            <a: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类测试</a:t>
            </a:r>
            <a:endParaRPr lang="zh-CN" altLang="en-US" sz="16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40068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56203-0A34-FF58-3D10-DE580A4D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8.7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继承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9A4C66-3492-3C86-60E5-37E4C842E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715170" cy="438694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8.7.3 </a:t>
            </a:r>
            <a:r>
              <a:rPr lang="zh-CN" altLang="en-US" sz="2400" dirty="0"/>
              <a:t>重写 （重写</a:t>
            </a:r>
            <a:r>
              <a:rPr lang="en-US" altLang="zh-CN" sz="2400" dirty="0"/>
              <a:t>1.py  </a:t>
            </a:r>
            <a:r>
              <a:rPr lang="zh-CN" altLang="en-US" sz="2400" dirty="0"/>
              <a:t>重写</a:t>
            </a:r>
            <a:r>
              <a:rPr lang="en-US" altLang="zh-CN" sz="2400" dirty="0"/>
              <a:t>2.py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重写就是子类对父类已经定义并继承的方法，重新定义，以满足子类的特定的要求。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若子类重写父类的方法，子类对象默认调用的是子类重写的方法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Person: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say_hello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打招呼！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Chinese(Person):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定义子类继承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Person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say_hello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重写 父类的方法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吃了吗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chinese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=Chinese()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chinese.say_hello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吃了吗</a:t>
            </a: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70295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F6168-4137-0F6C-80FB-0D0F590B0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8.7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继承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98F8A3-CC14-60BE-ACF7-C533F78EB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253343"/>
            <a:ext cx="10704285" cy="4506686"/>
          </a:xfrm>
        </p:spPr>
        <p:txBody>
          <a:bodyPr/>
          <a:lstStyle/>
          <a:p>
            <a:pPr>
              <a:buNone/>
            </a:pPr>
            <a:r>
              <a:rPr lang="zh-CN" altLang="en-US" sz="2400" dirty="0"/>
              <a:t>   子类重写父类的方法后，无法直接访问父类的同名方法，可以使用</a:t>
            </a:r>
            <a:r>
              <a:rPr lang="en-US" altLang="zh-CN" sz="2400" dirty="0"/>
              <a:t>super()</a:t>
            </a:r>
            <a:r>
              <a:rPr lang="zh-CN" altLang="en-US" sz="2400" dirty="0"/>
              <a:t>函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数间接调用父类中重写前的方法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Person: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say_hello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打招呼！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Chinese(Person):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定义子类继承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Person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类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say_hello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94558D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self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重写 父类的方法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super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().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say_hello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调用父类重写前的方法 打招呼！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吃了吗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?"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吃了吗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chinese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=Chinese()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chinese.say_hello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endParaRPr lang="en-US" altLang="zh-CN" sz="2000" i="1" dirty="0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16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结果：</a:t>
            </a:r>
            <a:endParaRPr lang="en-US" altLang="zh-CN" sz="1600" i="1" dirty="0">
              <a:solidFill>
                <a:srgbClr val="808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打招呼！</a:t>
            </a:r>
          </a:p>
          <a:p>
            <a:pPr>
              <a:buNone/>
            </a:pPr>
            <a:r>
              <a:rPr lang="zh-CN" altLang="en-US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吃了吗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lang="zh-CN" altLang="en-US" sz="16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86596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E1CE4-BAA6-0159-EEA2-5AC66430E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8.8 </a:t>
            </a:r>
            <a:r>
              <a:rPr lang="zh-CN" altLang="en-US" dirty="0"/>
              <a:t>多态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D8CB4B-2878-7DE3-A839-556380360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365170"/>
          </a:xfrm>
        </p:spPr>
        <p:txBody>
          <a:bodyPr/>
          <a:lstStyle/>
          <a:p>
            <a:pPr>
              <a:buNone/>
            </a:pPr>
            <a:r>
              <a:rPr lang="zh-CN" altLang="en-US" sz="2400" dirty="0"/>
              <a:t>多态多态 让不同类的同一个功能 表现出不同的行为，即父类的方法在子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类中有不同的实现。（多态</a:t>
            </a:r>
            <a:r>
              <a:rPr lang="en-US" altLang="zh-CN" sz="2400" dirty="0"/>
              <a:t>.</a:t>
            </a:r>
            <a:r>
              <a:rPr lang="en-US" altLang="zh-CN" sz="2400" dirty="0" err="1"/>
              <a:t>py</a:t>
            </a:r>
            <a:r>
              <a:rPr lang="zh-CN" altLang="en-US" sz="2400" dirty="0"/>
              <a:t>）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00574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F2120B-7FD1-F304-932E-572E336D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8.9 </a:t>
            </a:r>
            <a:r>
              <a:rPr lang="zh-CN" altLang="en-US" dirty="0"/>
              <a:t>运算符重载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A2370E-6EBB-0009-9CB5-37A987FC7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190999"/>
          </a:xfrm>
        </p:spPr>
        <p:txBody>
          <a:bodyPr/>
          <a:lstStyle/>
          <a:p>
            <a:pPr marL="0" indent="0"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运算符重载是指赋予内置运算符新的功能，使内置运算符能适应更多的数据类型。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j-cs"/>
            </a:endParaRP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（运算符重载 </a:t>
            </a:r>
            <a:r>
              <a:rPr lang="en-US" altLang="zh-CN" sz="20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.</a:t>
            </a:r>
            <a:r>
              <a:rPr lang="en-US" altLang="zh-CN" sz="2000" b="1" dirty="0" err="1">
                <a:solidFill>
                  <a:srgbClr val="006666"/>
                </a:solidFill>
                <a:latin typeface="Arial"/>
                <a:ea typeface="宋体"/>
                <a:cs typeface="+mj-cs"/>
              </a:rPr>
              <a:t>py</a:t>
            </a:r>
            <a:r>
              <a:rPr lang="zh-CN" altLang="en-US" sz="20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）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73908164"/>
      </p:ext>
    </p:extLst>
  </p:cSld>
  <p:clrMapOvr>
    <a:masterClrMapping/>
  </p:clrMapOvr>
</p:sld>
</file>

<file path=ppt/theme/theme1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75000"/>
          <a:buFont typeface="Wingdings" panose="05000000000000000000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75000"/>
          <a:buFont typeface="Wingdings" panose="05000000000000000000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3003</TotalTime>
  <Words>3739</Words>
  <Application>Microsoft Office PowerPoint</Application>
  <PresentationFormat>宽屏</PresentationFormat>
  <Paragraphs>235</Paragraphs>
  <Slides>39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5" baseType="lpstr">
      <vt:lpstr>等线</vt:lpstr>
      <vt:lpstr>宋体</vt:lpstr>
      <vt:lpstr>Arial</vt:lpstr>
      <vt:lpstr>Times New Roman</vt:lpstr>
      <vt:lpstr>Wingdings</vt:lpstr>
      <vt:lpstr>Capsules</vt:lpstr>
      <vt:lpstr>第八章 面向对象</vt:lpstr>
      <vt:lpstr>8.1 面向对象概述</vt:lpstr>
      <vt:lpstr>8.1 面向对象概述</vt:lpstr>
      <vt:lpstr>8.1 面向对象概述</vt:lpstr>
      <vt:lpstr>8.1 面向对象概述</vt:lpstr>
      <vt:lpstr>8.2 类与对象的基础应用</vt:lpstr>
      <vt:lpstr>8.2 类与对象的基础应用</vt:lpstr>
      <vt:lpstr>8.2 类与对象的基础应用</vt:lpstr>
      <vt:lpstr>8.2 类与对象的基础应用</vt:lpstr>
      <vt:lpstr>8.2 类与对象的基础应用</vt:lpstr>
      <vt:lpstr>8.3 类的成员</vt:lpstr>
      <vt:lpstr>8.3 类的成员</vt:lpstr>
      <vt:lpstr>8.3 类的成员</vt:lpstr>
      <vt:lpstr>8.3 类的成员</vt:lpstr>
      <vt:lpstr>8.3 类的成员</vt:lpstr>
      <vt:lpstr>8.3 类的成员</vt:lpstr>
      <vt:lpstr>8.3 类的成员</vt:lpstr>
      <vt:lpstr>8.3 类的成员</vt:lpstr>
      <vt:lpstr>8.3 类的成员</vt:lpstr>
      <vt:lpstr>8.3 类的成员</vt:lpstr>
      <vt:lpstr>8.3 类的成员</vt:lpstr>
      <vt:lpstr>8.4 特殊方法</vt:lpstr>
      <vt:lpstr>8.4 特殊方法</vt:lpstr>
      <vt:lpstr>8.4 特殊方法</vt:lpstr>
      <vt:lpstr>8.4 特殊方法</vt:lpstr>
      <vt:lpstr>8.4 特殊方法</vt:lpstr>
      <vt:lpstr>8.6 封装</vt:lpstr>
      <vt:lpstr>8.6 封装</vt:lpstr>
      <vt:lpstr>8.7 继承</vt:lpstr>
      <vt:lpstr>8.7 继承</vt:lpstr>
      <vt:lpstr>8.7 继承</vt:lpstr>
      <vt:lpstr>8.7 继承</vt:lpstr>
      <vt:lpstr>8.7 继承</vt:lpstr>
      <vt:lpstr>8.7 继承</vt:lpstr>
      <vt:lpstr>8.7 继承</vt:lpstr>
      <vt:lpstr>8.7 继承</vt:lpstr>
      <vt:lpstr>8.7 继承</vt:lpstr>
      <vt:lpstr>8.8 多态</vt:lpstr>
      <vt:lpstr>8.9 运算符重载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 su</dc:creator>
  <cp:lastModifiedBy>bo su</cp:lastModifiedBy>
  <cp:revision>97</cp:revision>
  <dcterms:created xsi:type="dcterms:W3CDTF">2026-02-19T02:03:12Z</dcterms:created>
  <dcterms:modified xsi:type="dcterms:W3CDTF">2026-06-02T05:09:39Z</dcterms:modified>
</cp:coreProperties>
</file>